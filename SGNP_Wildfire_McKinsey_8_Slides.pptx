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9" r:id="rId10"/>
    <p:sldId id="260" r:id="rId11"/>
    <p:sldId id="262" r:id="rId13"/>
    <p:sldId id="264" r:id="rId15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3" Type="http://schemas.openxmlformats.org/officeDocument/2006/relationships/slide" Target="slides/slide7.xml"/><Relationship Id="rId15" Type="http://schemas.openxmlformats.org/officeDocument/2006/relationships/slide" Target="slides/slide9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47472"/>
            <a:ext cx="4251960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56616"/>
            <a:ext cx="4050792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E17EB"/>
                </a:solidFill>
                <a:latin typeface="Arial"/>
              </a:defRPr>
            </a:pPr>
            <a:r>
              <a:t>DISASTER MANAGEMENT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411480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68636A"/>
                </a:solidFill>
                <a:latin typeface="Arial"/>
              </a:defRPr>
            </a:pPr>
            <a:r>
              <a:t>OCTOBER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15568"/>
            <a:ext cx="91440" cy="4434840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078992"/>
            <a:ext cx="5074920" cy="1481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50" b="1" i="0">
                <a:solidFill>
                  <a:srgbClr val="5E17EB"/>
                </a:solidFill>
                <a:latin typeface="Arial"/>
              </a:defRPr>
            </a:pPr>
            <a:r>
              <a:t>WILDFIRE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750" b="1" i="0">
                <a:solidFill>
                  <a:srgbClr val="5E17EB"/>
                </a:solidFill>
                <a:latin typeface="Arial"/>
              </a:defRPr>
            </a:pPr>
            <a:r>
              <a:t>SUSCEPTIBILITY MAPPING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4754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010101"/>
                </a:solidFill>
                <a:latin typeface="Arial"/>
              </a:defRPr>
            </a:pPr>
            <a:r>
              <a:t>Disaster Risk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8636A"/>
                </a:solidFill>
                <a:latin typeface="Arial"/>
              </a:defRPr>
            </a:pPr>
            <a:r>
              <a:t>Sanjay Gandhi National Park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8636A"/>
                </a:solidFill>
                <a:latin typeface="Arial"/>
              </a:defRPr>
            </a:pPr>
            <a:r>
              <a:t>Mumbai, Maharashtra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4114800"/>
            <a:ext cx="4846320" cy="2011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261104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5E17EB"/>
                </a:solidFill>
                <a:latin typeface="Arial"/>
              </a:defRPr>
            </a:pPr>
            <a:r>
              <a:t>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4261104"/>
            <a:ext cx="3090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1" i="0">
                <a:solidFill>
                  <a:srgbClr val="242126"/>
                </a:solidFill>
                <a:latin typeface="Arial"/>
              </a:defRPr>
            </a:pPr>
            <a:r>
              <a:t>FireWatch Analysts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535424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5E17EB"/>
                </a:solidFill>
                <a:latin typeface="Arial"/>
              </a:defRPr>
            </a:pPr>
            <a:r>
              <a:t>STUDY AREA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4535424"/>
            <a:ext cx="3090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1" i="0">
                <a:solidFill>
                  <a:srgbClr val="242126"/>
                </a:solidFill>
                <a:latin typeface="Arial"/>
              </a:defRPr>
            </a:pPr>
            <a:r>
              <a:t>SGNP, Mumbai (104 km²)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61888" y="1005840"/>
            <a:ext cx="5760720" cy="49834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tudy_area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7" y="1051560"/>
            <a:ext cx="5669280" cy="4892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26480" y="6126480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10" b="0" i="1">
                <a:solidFill>
                  <a:srgbClr val="68636A"/>
                </a:solidFill>
                <a:latin typeface="Arial"/>
              </a:defRPr>
            </a:pPr>
            <a:r>
              <a:t>A GIS + AHP framework for susceptibility, exposure and evacuation planning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6601968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80" b="1" i="0">
                <a:solidFill>
                  <a:srgbClr val="817A70"/>
                </a:solidFill>
                <a:latin typeface="Arial"/>
              </a:defRPr>
            </a:pPr>
            <a:r>
              <a:t>SGNP WILDFIRE RISK ANALYSIS  •  OCTOBER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83680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782312"/>
            <a:ext cx="4434840" cy="16459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E17EB"/>
                </a:solidFill>
                <a:latin typeface="Aptos"/>
              </a:rPr>
              <a:t>MEMBER NAMES / ROLL NUMBERS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974336"/>
            <a:ext cx="2240280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181A"/>
                </a:solidFill>
                <a:latin typeface="Aptos"/>
              </a:rPr>
              <a:t>1. [Name] | Roll No. [____]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974336"/>
            <a:ext cx="2157984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181A"/>
                </a:solidFill>
                <a:latin typeface="Aptos"/>
              </a:rPr>
              <a:t>2. [Name] | Roll No. [____]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5257800"/>
            <a:ext cx="2240280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181A"/>
                </a:solidFill>
                <a:latin typeface="Aptos"/>
              </a:rPr>
              <a:t>3. [Name] | Roll No. [____]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5257800"/>
            <a:ext cx="2157984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181A"/>
                </a:solidFill>
                <a:latin typeface="Aptos"/>
              </a:rPr>
              <a:t>4. [Name] | Roll No. [____]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5541264"/>
            <a:ext cx="2240280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181A"/>
                </a:solidFill>
                <a:latin typeface="Aptos"/>
              </a:rPr>
              <a:t>5. [Name] | Roll [____] (opt.)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5541264"/>
            <a:ext cx="2157984" cy="219456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181A"/>
                </a:solidFill>
                <a:latin typeface="Aptos"/>
              </a:rPr>
              <a:t>6. [Name] | Roll [____] (opt.)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01168"/>
            <a:ext cx="3749039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210312"/>
            <a:ext cx="3547871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E17EB"/>
                </a:solidFill>
                <a:latin typeface="Arial"/>
              </a:defRPr>
            </a:pPr>
            <a: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22860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68636A"/>
                </a:solidFill>
                <a:latin typeface="Arial"/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67512"/>
            <a:ext cx="11201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10101"/>
                </a:solidFill>
                <a:latin typeface="Arial"/>
              </a:defRPr>
            </a:pPr>
            <a:r>
              <a:t>A high-value forest sits at a high-pressure urban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099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0" b="0" i="0">
                <a:solidFill>
                  <a:srgbClr val="68636A"/>
                </a:solidFill>
                <a:latin typeface="Arial"/>
              </a:defRPr>
            </a:pPr>
            <a:r>
              <a:t>Background and problem statement as provided in the source deck.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658368" cy="50292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01968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80" b="1" i="0">
                <a:solidFill>
                  <a:srgbClr val="817A70"/>
                </a:solidFill>
                <a:latin typeface="Arial"/>
              </a:defRPr>
            </a:pPr>
            <a:r>
              <a:t>SGNP WILDFIRE RISK ANALYSIS  • 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83680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65376"/>
            <a:ext cx="6720840" cy="6583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65376"/>
            <a:ext cx="64008" cy="658368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84248"/>
            <a:ext cx="64099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 i="0">
                <a:solidFill>
                  <a:srgbClr val="5E17EB"/>
                </a:solidFill>
                <a:latin typeface="Arial"/>
              </a:defRPr>
            </a:pPr>
            <a:r>
              <a:t>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22576"/>
            <a:ext cx="6391655" cy="109727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0" i="0">
                <a:solidFill>
                  <a:srgbClr val="242126"/>
                </a:solidFill>
                <a:latin typeface="Arial"/>
              </a:defRPr>
            </a:pPr>
            <a:r>
              <a:t>SGNP spans 104 km² in northern Mumbai and is described in the source as the world’s largest urban national park.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70048"/>
            <a:ext cx="6720840" cy="6583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670048"/>
            <a:ext cx="64008" cy="658368"/>
          </a:xfrm>
          <a:prstGeom prst="rect">
            <a:avLst/>
          </a:prstGeom>
          <a:solidFill>
            <a:srgbClr val="ED7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88920"/>
            <a:ext cx="64099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 i="0">
                <a:solidFill>
                  <a:srgbClr val="ED7843"/>
                </a:solidFill>
                <a:latin typeface="Arial"/>
              </a:defRPr>
            </a:pPr>
            <a:r>
              <a:t>Urban–forest interface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27248"/>
            <a:ext cx="6391655" cy="109727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0" i="0">
                <a:solidFill>
                  <a:srgbClr val="242126"/>
                </a:solidFill>
                <a:latin typeface="Arial"/>
              </a:defRPr>
            </a:pPr>
            <a:r>
              <a:t>The park is surrounded by 20+ million residents, creating a critical urban–forest interface (UFI).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74720"/>
            <a:ext cx="6720840" cy="6583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64008" cy="658368"/>
          </a:xfrm>
          <a:prstGeom prst="rect">
            <a:avLst/>
          </a:prstGeom>
          <a:solidFill>
            <a:srgbClr val="FF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593591"/>
            <a:ext cx="64099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 i="0">
                <a:solidFill>
                  <a:srgbClr val="FF5757"/>
                </a:solidFill>
                <a:latin typeface="Arial"/>
              </a:defRPr>
            </a:pPr>
            <a:r>
              <a:t>Seasonality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31920"/>
            <a:ext cx="6391655" cy="109727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0" i="0">
                <a:solidFill>
                  <a:srgbClr val="242126"/>
                </a:solidFill>
                <a:latin typeface="Arial"/>
              </a:defRPr>
            </a:pPr>
            <a:r>
              <a:t>The dry season (November–May) raises fuel-load concerns; recurring brush fires threaten ecology and human settlements.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79392"/>
            <a:ext cx="6720840" cy="6583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279392"/>
            <a:ext cx="64008" cy="658368"/>
          </a:xfrm>
          <a:prstGeom prst="rect">
            <a:avLst/>
          </a:prstGeom>
          <a:solidFill>
            <a:srgbClr val="00B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398264"/>
            <a:ext cx="64099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 i="0">
                <a:solidFill>
                  <a:srgbClr val="00BF63"/>
                </a:solidFill>
                <a:latin typeface="Arial"/>
              </a:defRPr>
            </a:pPr>
            <a:r>
              <a:t>Planning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36592"/>
            <a:ext cx="6391655" cy="109727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0" i="0">
                <a:solidFill>
                  <a:srgbClr val="242126"/>
                </a:solidFill>
                <a:latin typeface="Arial"/>
              </a:defRPr>
            </a:pPr>
            <a:r>
              <a:t>The source identifies a lack of a systematic spatial wildfire-risk map for emergency response planning.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84064"/>
            <a:ext cx="6720840" cy="6583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084064"/>
            <a:ext cx="64008" cy="658368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202936"/>
            <a:ext cx="64099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 i="0">
                <a:solidFill>
                  <a:srgbClr val="5CE1E6"/>
                </a:solidFill>
                <a:latin typeface="Arial"/>
              </a:defRPr>
            </a:pPr>
            <a:r>
              <a:t>Study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541264"/>
            <a:ext cx="6391655" cy="109727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0" i="0">
                <a:solidFill>
                  <a:srgbClr val="242126"/>
                </a:solidFill>
                <a:latin typeface="Arial"/>
              </a:defRPr>
            </a:pPr>
            <a:r>
              <a:t>The project applies GIS + Multi-Criteria Decision Analysis (MCDA) to create a spatial fire-risk framework.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1865376"/>
            <a:ext cx="4096512" cy="4389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study_area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911095"/>
            <a:ext cx="4005072" cy="42976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662672" y="6281928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70" b="0" i="1">
                <a:solidFill>
                  <a:srgbClr val="68636A"/>
                </a:solidFill>
                <a:latin typeface="Arial"/>
              </a:defRPr>
            </a:pPr>
            <a:r>
              <a:t>Study-area map plate highlights the park boundary, lakes, arterial roads, gates, ridges and surrounding urban municipalities.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01168"/>
            <a:ext cx="3749039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210312"/>
            <a:ext cx="3547871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E17EB"/>
                </a:solidFill>
                <a:latin typeface="Arial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22860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68636A"/>
                </a:solidFill>
                <a:latin typeface="Arial"/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67512"/>
            <a:ext cx="11201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10101"/>
                </a:solidFill>
                <a:latin typeface="Arial"/>
              </a:defRPr>
            </a:pPr>
            <a:r>
              <a:t>Six objectives frame the analysis from susceptibility to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099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0" b="0" i="0">
                <a:solidFill>
                  <a:srgbClr val="68636A"/>
                </a:solidFill>
                <a:latin typeface="Arial"/>
              </a:defRPr>
            </a:pPr>
            <a:r>
              <a:t>Objectives reproduced from the source presentation.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658368" cy="50292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01968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80" b="1" i="0">
                <a:solidFill>
                  <a:srgbClr val="817A70"/>
                </a:solidFill>
                <a:latin typeface="Arial"/>
              </a:defRPr>
            </a:pPr>
            <a:r>
              <a:t>SGNP WILDFIRE RISK ANALYSIS  • 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83680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74519"/>
            <a:ext cx="3337560" cy="1691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39112"/>
            <a:ext cx="475488" cy="475488"/>
          </a:xfrm>
          <a:prstGeom prst="ellipse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205740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05740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5E17EB"/>
                </a:solidFill>
                <a:latin typeface="Arial"/>
              </a:defRPr>
            </a:pPr>
            <a:r>
              <a:t>Identify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660903"/>
            <a:ext cx="2944368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242126"/>
                </a:solidFill>
                <a:latin typeface="Arial"/>
              </a:defRPr>
            </a:pPr>
            <a:r>
              <a:t>Major environmental and human factors driving wildfire susceptibility in SGNP.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42232" y="1874519"/>
            <a:ext cx="3337560" cy="1691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06824" y="2039112"/>
            <a:ext cx="475488" cy="475488"/>
          </a:xfrm>
          <a:prstGeom prst="ellipse">
            <a:avLst/>
          </a:prstGeom>
          <a:solidFill>
            <a:srgbClr val="ED7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5968" y="205740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1184" y="205740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ED7843"/>
                </a:solidFill>
                <a:latin typeface="Arial"/>
              </a:defRPr>
            </a:pPr>
            <a:r>
              <a:t>Develop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2660903"/>
            <a:ext cx="2944368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242126"/>
                </a:solidFill>
                <a:latin typeface="Arial"/>
              </a:defRPr>
            </a:pPr>
            <a:r>
              <a:t>A GIS-based Wildfire Susceptibility Zonation framework using five conditioning factors.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17536" y="1874519"/>
            <a:ext cx="3337560" cy="1691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82127" y="2039112"/>
            <a:ext cx="475488" cy="475488"/>
          </a:xfrm>
          <a:prstGeom prst="ellipse">
            <a:avLst/>
          </a:prstGeom>
          <a:solidFill>
            <a:srgbClr val="FF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205740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6488" y="205740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5757"/>
                </a:solidFill>
                <a:latin typeface="Arial"/>
              </a:defRPr>
            </a:pPr>
            <a:r>
              <a:t>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0415" y="2660903"/>
            <a:ext cx="2944368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242126"/>
                </a:solidFill>
                <a:latin typeface="Arial"/>
              </a:defRPr>
            </a:pPr>
            <a:r>
              <a:t>Exposure and risk hotspots where high susceptibility intersects human settlements.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005072"/>
            <a:ext cx="3337560" cy="1691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" y="4169663"/>
            <a:ext cx="475488" cy="475488"/>
          </a:xfrm>
          <a:prstGeom prst="ellipse">
            <a:avLst/>
          </a:prstGeom>
          <a:solidFill>
            <a:srgbClr val="00B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" y="4187952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187952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0BF63"/>
                </a:solidFill>
                <a:latin typeface="Arial"/>
              </a:defRPr>
            </a:pPr>
            <a:r>
              <a:t>Assess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791456"/>
            <a:ext cx="2944368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242126"/>
                </a:solidFill>
                <a:latin typeface="Arial"/>
              </a:defRPr>
            </a:pPr>
            <a:r>
              <a:t>Emergency evacuation accessibility and priority zones for response planning.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42232" y="4005072"/>
            <a:ext cx="3337560" cy="1691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06824" y="4169663"/>
            <a:ext cx="475488" cy="475488"/>
          </a:xfrm>
          <a:prstGeom prst="ellipse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15968" y="4187952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01184" y="4187952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5CE1E6"/>
                </a:solidFill>
                <a:latin typeface="Arial"/>
              </a:defRPr>
            </a:pPr>
            <a:r>
              <a:t>Recommend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25112" y="4791456"/>
            <a:ext cx="2944368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242126"/>
                </a:solidFill>
                <a:latin typeface="Arial"/>
              </a:defRPr>
            </a:pPr>
            <a:r>
              <a:t>Actionable disaster-mitigation and preparedness actions for fire management.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17536" y="4005072"/>
            <a:ext cx="3337560" cy="1691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882127" y="4169663"/>
            <a:ext cx="475488" cy="475488"/>
          </a:xfrm>
          <a:prstGeom prst="ellipse">
            <a:avLst/>
          </a:prstGeom>
          <a:solidFill>
            <a:srgbClr val="FF6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91271" y="4187952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76488" y="4187952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66C4"/>
                </a:solidFill>
                <a:latin typeface="Arial"/>
              </a:defRPr>
            </a:pPr>
            <a:r>
              <a:t>Demonstrate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0415" y="4791456"/>
            <a:ext cx="2944368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242126"/>
                </a:solidFill>
                <a:latin typeface="Arial"/>
              </a:defRPr>
            </a:pPr>
            <a:r>
              <a:t>How spatial analysis can support wildfire disaster-management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01168"/>
            <a:ext cx="3749039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210312"/>
            <a:ext cx="3547871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E17EB"/>
                </a:solidFill>
                <a:latin typeface="Arial"/>
              </a:defRPr>
            </a:pPr>
            <a:r>
              <a:t>STUDY AREA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22860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68636A"/>
                </a:solidFill>
                <a:latin typeface="Arial"/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67512"/>
            <a:ext cx="11201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10101"/>
                </a:solidFill>
                <a:latin typeface="Arial"/>
              </a:defRPr>
            </a:pPr>
            <a:r>
              <a:t>Study area and data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099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0" b="0" i="0">
                <a:solidFill>
                  <a:srgbClr val="68636A"/>
                </a:solidFill>
                <a:latin typeface="Arial"/>
              </a:defRPr>
            </a:pPr>
            <a:r>
              <a:t>SGNP, Mumbai • 104 km² • 19.22°N, 72.91°E • Tropical deciduous forest • Dry season: Nov–May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658368" cy="50292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01968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80" b="1" i="0">
                <a:solidFill>
                  <a:srgbClr val="817A70"/>
                </a:solidFill>
                <a:latin typeface="Arial"/>
              </a:defRPr>
            </a:pPr>
            <a:r>
              <a:t>SGNP WILDFIRE RISK ANALYSIS  • 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83680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1847088"/>
            <a:ext cx="6766560" cy="45537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tudy_area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59" y="1892807"/>
            <a:ext cx="6675120" cy="446227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66928" y="1901952"/>
            <a:ext cx="3950208" cy="438912"/>
          </a:xfrm>
          <a:prstGeom prst="roundRect">
            <a:avLst/>
          </a:prstGeom>
          <a:solidFill>
            <a:srgbClr val="5E17EB"/>
          </a:solidFill>
          <a:ln w="6350">
            <a:solidFill>
              <a:srgbClr val="5E1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1920240"/>
            <a:ext cx="2011679" cy="40233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Aptos"/>
              </a:rPr>
              <a:t>DATA LAYER / TYPE /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1920240"/>
            <a:ext cx="1609344" cy="40233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Aptos"/>
              </a:rPr>
              <a:t>SOURCE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414016"/>
            <a:ext cx="3950208" cy="603504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523744"/>
            <a:ext cx="41148" cy="384048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468880"/>
            <a:ext cx="1993391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8181A"/>
                </a:solidFill>
                <a:latin typeface="Aptos"/>
              </a:rPr>
              <a:t>DEM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2697480"/>
            <a:ext cx="1993391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56570"/>
                </a:solidFill>
                <a:latin typeface="Aptos"/>
              </a:rPr>
              <a:t>Raster · 30 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450592"/>
            <a:ext cx="1600200" cy="53035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18181A"/>
                </a:solidFill>
                <a:latin typeface="Aptos"/>
              </a:rPr>
              <a:t>SRTM / NASA EarthData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090672"/>
            <a:ext cx="3950208" cy="603504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200400"/>
            <a:ext cx="41148" cy="384048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3145536"/>
            <a:ext cx="1993391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8181A"/>
                </a:solidFill>
                <a:latin typeface="Aptos"/>
              </a:rPr>
              <a:t>Road network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3374136"/>
            <a:ext cx="1993391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56570"/>
                </a:solidFill>
                <a:latin typeface="Aptos"/>
              </a:rPr>
              <a:t>Vector · 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3127248"/>
            <a:ext cx="1600200" cy="53035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18181A"/>
                </a:solidFill>
                <a:latin typeface="Aptos"/>
              </a:rPr>
              <a:t>OpenStreetMap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767328"/>
            <a:ext cx="3950208" cy="603504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877056"/>
            <a:ext cx="41148" cy="384048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3822191"/>
            <a:ext cx="1993391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8181A"/>
                </a:solidFill>
                <a:latin typeface="Aptos"/>
              </a:rPr>
              <a:t>Settlements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4050791"/>
            <a:ext cx="1993391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56570"/>
                </a:solidFill>
                <a:latin typeface="Aptos"/>
              </a:rPr>
              <a:t>Vector · points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803904"/>
            <a:ext cx="1600200" cy="53035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18181A"/>
                </a:solidFill>
                <a:latin typeface="Aptos"/>
              </a:rPr>
              <a:t>OSM / Census India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443983"/>
            <a:ext cx="3950208" cy="603504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553712"/>
            <a:ext cx="41148" cy="384048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4498847"/>
            <a:ext cx="1993391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8181A"/>
                </a:solidFill>
                <a:latin typeface="Aptos"/>
              </a:rPr>
              <a:t>NDVI / vegetation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4727447"/>
            <a:ext cx="1993391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56570"/>
                </a:solidFill>
                <a:latin typeface="Aptos"/>
              </a:rPr>
              <a:t>Raster · 250 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4480559"/>
            <a:ext cx="1600200" cy="53035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18181A"/>
                </a:solidFill>
                <a:latin typeface="Aptos"/>
              </a:rPr>
              <a:t>MODIS Terra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5120640"/>
            <a:ext cx="3950208" cy="603504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5230368"/>
            <a:ext cx="41148" cy="384048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5175503"/>
            <a:ext cx="1993391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8181A"/>
                </a:solidFill>
                <a:latin typeface="Aptos"/>
              </a:rPr>
              <a:t>Park boundary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" y="5404103"/>
            <a:ext cx="1993391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56570"/>
                </a:solidFill>
                <a:latin typeface="Aptos"/>
              </a:rPr>
              <a:t>Vector · polygon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5157216"/>
            <a:ext cx="1600200" cy="53035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18181A"/>
                </a:solidFill>
                <a:latin typeface="Aptos"/>
              </a:rPr>
              <a:t>Maharashtra Forest Dept.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01168"/>
            <a:ext cx="3749039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210312"/>
            <a:ext cx="3547871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E17EB"/>
                </a:solidFill>
                <a:latin typeface="Arial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22860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68636A"/>
                </a:solidFill>
                <a:latin typeface="Arial"/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67512"/>
            <a:ext cx="11201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10101"/>
                </a:solidFill>
                <a:latin typeface="Arial"/>
              </a:defRPr>
            </a:pPr>
            <a:r>
              <a:t>A seven-step GIS workflow turns spatial layers into response priorities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099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0" b="0" i="0">
                <a:solidFill>
                  <a:srgbClr val="68636A"/>
                </a:solidFill>
                <a:latin typeface="Arial"/>
              </a:defRPr>
            </a:pPr>
            <a:r>
              <a:t>Multi-Criteria Decision Analysis (MCDA) with AHP-weighted overlay.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658368" cy="50292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01968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80" b="1" i="0">
                <a:solidFill>
                  <a:srgbClr val="817A70"/>
                </a:solidFill>
                <a:latin typeface="Arial"/>
              </a:defRPr>
            </a:pPr>
            <a:r>
              <a:t>SGNP WILDFIRE RISK ANALYSIS  • 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83680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828800"/>
            <a:ext cx="10954512" cy="502920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1901952"/>
            <a:ext cx="356616" cy="356616"/>
          </a:xfrm>
          <a:prstGeom prst="ellipse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929384"/>
            <a:ext cx="3383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1901952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 i="0">
                <a:solidFill>
                  <a:srgbClr val="5E17EB"/>
                </a:solidFill>
                <a:latin typeface="Arial"/>
              </a:defRPr>
            </a:pPr>
            <a:r>
              <a:t>Data collection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892807"/>
            <a:ext cx="7818120" cy="35661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242126"/>
                </a:solidFill>
                <a:latin typeface="Arial"/>
              </a:defRPr>
            </a:pPr>
            <a:r>
              <a:t>SRTM DEM · OSM roads and settlements · MODIS NDVI · forest boundary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2436876"/>
            <a:ext cx="10954512" cy="502920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2510028"/>
            <a:ext cx="356616" cy="356616"/>
          </a:xfrm>
          <a:prstGeom prst="ellipse">
            <a:avLst/>
          </a:prstGeom>
          <a:solidFill>
            <a:srgbClr val="ED7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2537460"/>
            <a:ext cx="3383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2510028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 i="0">
                <a:solidFill>
                  <a:srgbClr val="ED7843"/>
                </a:solidFill>
                <a:latin typeface="Arial"/>
              </a:defRPr>
            </a:pPr>
            <a:r>
              <a:t>Pre-processing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500884"/>
            <a:ext cx="7818120" cy="35661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242126"/>
                </a:solidFill>
                <a:latin typeface="Arial"/>
              </a:defRPr>
            </a:pPr>
            <a:r>
              <a:t>Project to WGS84 · clip to SGNP · resample to 30 m grid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3044952"/>
            <a:ext cx="10954512" cy="502920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9808" y="3118104"/>
            <a:ext cx="356616" cy="356616"/>
          </a:xfrm>
          <a:prstGeom prst="ellipse">
            <a:avLst/>
          </a:prstGeom>
          <a:solidFill>
            <a:srgbClr val="00B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3145536"/>
            <a:ext cx="3383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3118104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 i="0">
                <a:solidFill>
                  <a:srgbClr val="00BF63"/>
                </a:solidFill>
                <a:latin typeface="Arial"/>
              </a:defRPr>
            </a:pPr>
            <a:r>
              <a:t>Factor reclassification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108960"/>
            <a:ext cx="7818120" cy="35661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242126"/>
                </a:solidFill>
                <a:latin typeface="Arial"/>
              </a:defRPr>
            </a:pPr>
            <a:r>
              <a:t>Slope · elevation · NDVI · road proximity · settlement proximity; each factor on a 1–5 scale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3653028"/>
            <a:ext cx="10954512" cy="502920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9808" y="3726180"/>
            <a:ext cx="356616" cy="356616"/>
          </a:xfrm>
          <a:prstGeom prst="ellipse">
            <a:avLst/>
          </a:prstGeom>
          <a:solidFill>
            <a:srgbClr val="FF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3753612"/>
            <a:ext cx="3383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872" y="372618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 i="0">
                <a:solidFill>
                  <a:srgbClr val="FF5757"/>
                </a:solidFill>
                <a:latin typeface="Arial"/>
              </a:defRPr>
            </a:pPr>
            <a:r>
              <a:t>Weighted overlay (AHP)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717036"/>
            <a:ext cx="7818120" cy="35661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242126"/>
                </a:solidFill>
                <a:latin typeface="Arial"/>
              </a:defRPr>
            </a:pPr>
            <a:r>
              <a:t>WSI = 0.40×Slope + 0.25×NDVI + 0.15×Elevation + 0.10×Roads + 0.10×Settlements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" y="4261104"/>
            <a:ext cx="10954512" cy="502920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49808" y="4334256"/>
            <a:ext cx="356616" cy="356616"/>
          </a:xfrm>
          <a:prstGeom prst="ellipse">
            <a:avLst/>
          </a:prstGeom>
          <a:solidFill>
            <a:srgbClr val="FF6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4361688"/>
            <a:ext cx="3383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61872" y="4334256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 i="0">
                <a:solidFill>
                  <a:srgbClr val="FF66C4"/>
                </a:solidFill>
                <a:latin typeface="Arial"/>
              </a:defRPr>
            </a:pPr>
            <a:r>
              <a:t>Susceptibility zonation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325112"/>
            <a:ext cx="7818120" cy="35661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242126"/>
                </a:solidFill>
                <a:latin typeface="Arial"/>
              </a:defRPr>
            </a:pPr>
            <a:r>
              <a:t>Classify the weighted index into five classes, from Very Low to Very High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" y="4869180"/>
            <a:ext cx="10954512" cy="502920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49808" y="4942332"/>
            <a:ext cx="356616" cy="356616"/>
          </a:xfrm>
          <a:prstGeom prst="ellipse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" y="4969764"/>
            <a:ext cx="3383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010101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61872" y="4942332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 i="0">
                <a:solidFill>
                  <a:srgbClr val="5E17EB"/>
                </a:solidFill>
                <a:latin typeface="Arial"/>
              </a:defRPr>
            </a:pPr>
            <a:r>
              <a:t>Risk and exposure overlay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933188"/>
            <a:ext cx="7818120" cy="35661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242126"/>
                </a:solidFill>
                <a:latin typeface="Arial"/>
              </a:defRPr>
            </a:pPr>
            <a:r>
              <a:t>Risk = susceptibility × exposure (human settlements and infrastructure)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" y="5477256"/>
            <a:ext cx="10954512" cy="502920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49808" y="5550408"/>
            <a:ext cx="356616" cy="356616"/>
          </a:xfrm>
          <a:prstGeom prst="ellipse">
            <a:avLst/>
          </a:prstGeom>
          <a:solidFill>
            <a:srgbClr val="FFD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8952" y="5577840"/>
            <a:ext cx="3383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010101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61872" y="5550408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1" i="0">
                <a:solidFill>
                  <a:srgbClr val="5E17EB"/>
                </a:solidFill>
                <a:latin typeface="Arial"/>
              </a:defRPr>
            </a:pPr>
            <a:r>
              <a:t>Evacuation planning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5541264"/>
            <a:ext cx="7818120" cy="35661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242126"/>
                </a:solidFill>
                <a:latin typeface="Arial"/>
              </a:defRPr>
            </a:pPr>
            <a:r>
              <a:t>Network analysis · road accessibility · safe-zone identification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199632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40" b="0" i="1">
                <a:solidFill>
                  <a:srgbClr val="68636A"/>
                </a:solidFill>
                <a:latin typeface="Arial"/>
              </a:defRPr>
            </a:pPr>
            <a:r>
              <a:t>The source deck also contains a colored workflow graphic; this slide re-expresses its stages in the supplied light theme.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01168"/>
            <a:ext cx="3749039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210312"/>
            <a:ext cx="3547871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E17EB"/>
                </a:solidFill>
                <a:latin typeface="Arial"/>
              </a:defRPr>
            </a:pPr>
            <a:r>
              <a:t>RESULTS · MAP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22860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68636A"/>
                </a:solidFill>
                <a:latin typeface="Arial"/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67512"/>
            <a:ext cx="11201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10101"/>
                </a:solidFill>
                <a:latin typeface="Arial"/>
              </a:defRPr>
            </a:pPr>
            <a:r>
              <a:t>Susceptibility zones vary from exposed edges to moist core areas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099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0" b="0" i="0">
                <a:solidFill>
                  <a:srgbClr val="68636A"/>
                </a:solidFill>
                <a:latin typeface="Arial"/>
              </a:defRPr>
            </a:pPr>
            <a:r>
              <a:t>Map plate and class statistics reproduced from the source deck.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658368" cy="50292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01968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80" b="1" i="0">
                <a:solidFill>
                  <a:srgbClr val="817A70"/>
                </a:solidFill>
                <a:latin typeface="Arial"/>
              </a:defRPr>
            </a:pPr>
            <a:r>
              <a:t>SGNP WILDFIRE RISK ANALYSIS  • 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83680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847088"/>
            <a:ext cx="6355080" cy="436168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usceptibilit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892807"/>
            <a:ext cx="6263640" cy="42702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78040" y="1920240"/>
            <a:ext cx="4251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5E17EB"/>
                </a:solidFill>
                <a:latin typeface="Arial"/>
              </a:defRPr>
            </a:pPr>
            <a:r>
              <a:t>AREA SHARE BY CLASS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0608" y="2286000"/>
            <a:ext cx="4480560" cy="62179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50608" y="2286000"/>
            <a:ext cx="109728" cy="621792"/>
          </a:xfrm>
          <a:prstGeom prst="rect">
            <a:avLst/>
          </a:prstGeom>
          <a:solidFill>
            <a:srgbClr val="FF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2359152"/>
            <a:ext cx="14173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1" i="0">
                <a:solidFill>
                  <a:srgbClr val="242126"/>
                </a:solidFill>
                <a:latin typeface="Arial"/>
              </a:defRPr>
            </a:pPr>
            <a:r>
              <a:t>Very 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359152"/>
            <a:ext cx="2697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19" b="1" i="0">
                <a:solidFill>
                  <a:srgbClr val="5E17EB"/>
                </a:solidFill>
                <a:latin typeface="Arial"/>
              </a:defRPr>
            </a:pPr>
            <a:r>
              <a:t>9.9 km²  ·  9.5%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8352" y="2596896"/>
            <a:ext cx="3977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90" b="0" i="0">
                <a:solidFill>
                  <a:srgbClr val="68636A"/>
                </a:solidFill>
                <a:latin typeface="Arial"/>
              </a:defRPr>
            </a:pPr>
            <a:r>
              <a:t>Steep slopes and high NDVI periphery near settlements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50608" y="3035808"/>
            <a:ext cx="4480560" cy="62179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50608" y="3035808"/>
            <a:ext cx="109728" cy="621792"/>
          </a:xfrm>
          <a:prstGeom prst="rect">
            <a:avLst/>
          </a:prstGeom>
          <a:solidFill>
            <a:srgbClr val="ED7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3108960"/>
            <a:ext cx="14173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1" i="0">
                <a:solidFill>
                  <a:srgbClr val="242126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3108960"/>
            <a:ext cx="2697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19" b="1" i="0">
                <a:solidFill>
                  <a:srgbClr val="5E17EB"/>
                </a:solidFill>
                <a:latin typeface="Arial"/>
              </a:defRPr>
            </a:pPr>
            <a:r>
              <a:t>20.5 km²  ·  19.7%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8352" y="3346703"/>
            <a:ext cx="3977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90" b="0" i="0">
                <a:solidFill>
                  <a:srgbClr val="68636A"/>
                </a:solidFill>
                <a:latin typeface="Arial"/>
              </a:defRPr>
            </a:pPr>
            <a:r>
              <a:t>Degraded areas near Borivali and Dahisar gates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50608" y="3785615"/>
            <a:ext cx="4480560" cy="62179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50608" y="3785615"/>
            <a:ext cx="109728" cy="621792"/>
          </a:xfrm>
          <a:prstGeom prst="rect">
            <a:avLst/>
          </a:prstGeom>
          <a:solidFill>
            <a:srgbClr val="FFD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88352" y="3858768"/>
            <a:ext cx="14173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1" i="0">
                <a:solidFill>
                  <a:srgbClr val="242126"/>
                </a:solidFill>
                <a:latin typeface="Arial"/>
              </a:defRPr>
            </a:pPr>
            <a:r>
              <a:t>Moderate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3858768"/>
            <a:ext cx="2697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19" b="1" i="0">
                <a:solidFill>
                  <a:srgbClr val="5E17EB"/>
                </a:solidFill>
                <a:latin typeface="Arial"/>
              </a:defRPr>
            </a:pPr>
            <a:r>
              <a:t>29.2 km²  ·  28.1%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4096511"/>
            <a:ext cx="3977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90" b="0" i="0">
                <a:solidFill>
                  <a:srgbClr val="68636A"/>
                </a:solidFill>
                <a:latin typeface="Arial"/>
              </a:defRPr>
            </a:pPr>
            <a:r>
              <a:t>Mixed forest–urban transition zones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50608" y="4535424"/>
            <a:ext cx="4480560" cy="62179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50608" y="4535424"/>
            <a:ext cx="109728" cy="621792"/>
          </a:xfrm>
          <a:prstGeom prst="rect">
            <a:avLst/>
          </a:prstGeom>
          <a:solidFill>
            <a:srgbClr val="00B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88352" y="4608576"/>
            <a:ext cx="14173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1" i="0">
                <a:solidFill>
                  <a:srgbClr val="242126"/>
                </a:solidFill>
                <a:latin typeface="Arial"/>
              </a:defRPr>
            </a:pPr>
            <a:r>
              <a:t>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4608576"/>
            <a:ext cx="2697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19" b="1" i="0">
                <a:solidFill>
                  <a:srgbClr val="5E17EB"/>
                </a:solidFill>
                <a:latin typeface="Arial"/>
              </a:defRPr>
            </a:pPr>
            <a:r>
              <a:t>25.4 km²  ·  24.5%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4846320"/>
            <a:ext cx="3977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90" b="0" i="0">
                <a:solidFill>
                  <a:srgbClr val="68636A"/>
                </a:solidFill>
                <a:latin typeface="Arial"/>
              </a:defRPr>
            </a:pPr>
            <a:r>
              <a:t>Dense core forest with low ignition probability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50608" y="5285231"/>
            <a:ext cx="4480560" cy="62179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50608" y="5285231"/>
            <a:ext cx="109728" cy="621792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88352" y="5358383"/>
            <a:ext cx="14173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1" i="0">
                <a:solidFill>
                  <a:srgbClr val="242126"/>
                </a:solidFill>
                <a:latin typeface="Arial"/>
              </a:defRPr>
            </a:pPr>
            <a:r>
              <a:t>Very 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5358383"/>
            <a:ext cx="2697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19" b="1" i="0">
                <a:solidFill>
                  <a:srgbClr val="5E17EB"/>
                </a:solidFill>
                <a:latin typeface="Arial"/>
              </a:defRPr>
            </a:pPr>
            <a:r>
              <a:t>18.9 km²  ·  18.2%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88352" y="5596127"/>
            <a:ext cx="3977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90" b="0" i="0">
                <a:solidFill>
                  <a:srgbClr val="68636A"/>
                </a:solidFill>
                <a:latin typeface="Arial"/>
              </a:defRPr>
            </a:pPr>
            <a:r>
              <a:t>Core forest and water bodies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6108192"/>
            <a:ext cx="4297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 i="1">
                <a:solidFill>
                  <a:srgbClr val="68636A"/>
                </a:solidFill>
                <a:latin typeface="Arial"/>
              </a:defRPr>
            </a:pPr>
            <a:r>
              <a:t>The map legend additionally marks reservoir waterbodies as “zero ignition.”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01168"/>
            <a:ext cx="3749039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210312"/>
            <a:ext cx="3547871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E17EB"/>
                </a:solidFill>
                <a:latin typeface="Arial"/>
              </a:defRPr>
            </a:pPr>
            <a:r>
              <a:t>RESULTS · MAP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22860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68636A"/>
                </a:solidFill>
                <a:latin typeface="Arial"/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67512"/>
            <a:ext cx="11201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10101"/>
                </a:solidFill>
                <a:latin typeface="Arial"/>
              </a:defRPr>
            </a:pPr>
            <a:r>
              <a:t>Exposure is concentrated along the urban–forest margin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099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0" b="0" i="0">
                <a:solidFill>
                  <a:srgbClr val="68636A"/>
                </a:solidFill>
                <a:latin typeface="Arial"/>
              </a:defRPr>
            </a:pPr>
            <a:r>
              <a:t>Risk exposure map, asset layers and map-plate metrics from the source.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658368" cy="50292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01968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80" b="1" i="0">
                <a:solidFill>
                  <a:srgbClr val="817A70"/>
                </a:solidFill>
                <a:latin typeface="Arial"/>
              </a:defRPr>
            </a:pPr>
            <a:r>
              <a:t>SGNP WILDFIRE RISK ANALYSIS  • 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83680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847088"/>
            <a:ext cx="6656832" cy="448970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isk_exposur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892807"/>
            <a:ext cx="6565392" cy="43982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24927" y="1883664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5E17EB"/>
                </a:solidFill>
                <a:latin typeface="Arial"/>
              </a:defRPr>
            </a:pPr>
            <a:r>
              <a:t>EXPOSURE INDICATORS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2267712"/>
            <a:ext cx="4160520" cy="521207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71231" y="2359152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5E17EB"/>
                </a:solidFill>
                <a:latin typeface="Arial"/>
              </a:defRPr>
            </a:pPr>
            <a:r>
              <a:t>500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359152"/>
            <a:ext cx="23591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1" i="0">
                <a:solidFill>
                  <a:srgbClr val="242126"/>
                </a:solidFill>
                <a:latin typeface="Arial"/>
              </a:defRPr>
            </a:pPr>
            <a:r>
              <a:t>WUI exposure buffer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2907791"/>
            <a:ext cx="4160520" cy="521207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71231" y="2999232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D7843"/>
                </a:solidFill>
                <a:latin typeface="Arial"/>
              </a:defRPr>
            </a:pPr>
            <a:r>
              <a:t>42.8 km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999232"/>
            <a:ext cx="23591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1" i="0">
                <a:solidFill>
                  <a:srgbClr val="242126"/>
                </a:solidFill>
                <a:latin typeface="Arial"/>
              </a:defRPr>
            </a:pPr>
            <a:r>
              <a:t>WUI total length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3547872"/>
            <a:ext cx="4160520" cy="521207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71231" y="3639312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5757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3639312"/>
            <a:ext cx="23591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1" i="0">
                <a:solidFill>
                  <a:srgbClr val="242126"/>
                </a:solidFill>
                <a:latin typeface="Arial"/>
              </a:defRPr>
            </a:pPr>
            <a:r>
              <a:t>Exposed tribal padas / settlements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4187952"/>
            <a:ext cx="4160520" cy="521207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71231" y="4279392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BF63"/>
                </a:solidFill>
                <a:latin typeface="Arial"/>
              </a:defRPr>
            </a:pPr>
            <a:r>
              <a:t>&gt;450,000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4279392"/>
            <a:ext cx="23591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1" i="0">
                <a:solidFill>
                  <a:srgbClr val="242126"/>
                </a:solidFill>
                <a:latin typeface="Arial"/>
              </a:defRPr>
            </a:pPr>
            <a:r>
              <a:t>Estimated fringe population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4828031"/>
            <a:ext cx="4160520" cy="521207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71231" y="4919471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5CE1E6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4919471"/>
            <a:ext cx="23591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60" b="1" i="0">
                <a:solidFill>
                  <a:srgbClr val="242126"/>
                </a:solidFill>
                <a:latin typeface="Arial"/>
              </a:defRPr>
            </a:pPr>
            <a:r>
              <a:t>Core water catchment protection shown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5596128"/>
            <a:ext cx="4160520" cy="658368"/>
          </a:xfrm>
          <a:prstGeom prst="roundRect">
            <a:avLst/>
          </a:prstGeom>
          <a:solidFill>
            <a:srgbClr val="FFF0E7"/>
          </a:solidFill>
          <a:ln w="8890">
            <a:solidFill>
              <a:srgbClr val="F6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5696712"/>
            <a:ext cx="1280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ED7843"/>
                </a:solidFill>
                <a:latin typeface="Arial"/>
              </a:defRPr>
            </a:pPr>
            <a:r>
              <a:t>MAP CALLOUT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5669280"/>
            <a:ext cx="258775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0" b="0" i="0">
                <a:solidFill>
                  <a:srgbClr val="242126"/>
                </a:solidFill>
                <a:latin typeface="Arial"/>
              </a:defRPr>
            </a:pPr>
            <a:r>
              <a:t>Dense residential clusters are marked as high asset exposure on the western boundary.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01168"/>
            <a:ext cx="3749039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632" y="210312"/>
            <a:ext cx="3547871" cy="2926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5E17EB"/>
                </a:solidFill>
                <a:latin typeface="Arial"/>
              </a:defRPr>
            </a:pPr>
            <a:r>
              <a:t>RESULTS · MAP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228600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68636A"/>
                </a:solidFill>
                <a:latin typeface="Arial"/>
              </a:defRPr>
            </a:pPr>
            <a: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67512"/>
            <a:ext cx="11201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10101"/>
                </a:solidFill>
                <a:latin typeface="Arial"/>
              </a:defRPr>
            </a:pPr>
            <a:r>
              <a:t>Accessibility analysis is intended to guide safe movement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099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0" b="0" i="0">
                <a:solidFill>
                  <a:srgbClr val="68636A"/>
                </a:solidFill>
                <a:latin typeface="Arial"/>
              </a:defRPr>
            </a:pPr>
            <a:r>
              <a:t>Source framework: network analysis, road accessibility and safe-zone identification.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658368" cy="50292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01968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80" b="1" i="0">
                <a:solidFill>
                  <a:srgbClr val="817A70"/>
                </a:solidFill>
                <a:latin typeface="Arial"/>
              </a:defRPr>
            </a:pPr>
            <a:r>
              <a:t>SGNP WILDFIRE RISK ANALYSIS  • 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83680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847088"/>
            <a:ext cx="6656832" cy="448970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vacuation_accessibilit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892807"/>
            <a:ext cx="6565392" cy="439826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452360" y="1901952"/>
            <a:ext cx="1828800" cy="109728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1901952"/>
            <a:ext cx="1828800" cy="50292"/>
          </a:xfrm>
          <a:prstGeom prst="rect">
            <a:avLst/>
          </a:prstGeom>
          <a:solidFill>
            <a:srgbClr val="00B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2057400"/>
            <a:ext cx="160934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0BF6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2088" y="2496312"/>
            <a:ext cx="1609344" cy="411479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" b="0" i="0">
                <a:solidFill>
                  <a:srgbClr val="242126"/>
                </a:solidFill>
                <a:latin typeface="Arial"/>
              </a:defRPr>
            </a:pPr>
            <a:r>
              <a:t>Safe zones mapped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1901952"/>
            <a:ext cx="2103120" cy="109728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464040" y="1901952"/>
            <a:ext cx="2103120" cy="50292"/>
          </a:xfrm>
          <a:prstGeom prst="rect">
            <a:avLst/>
          </a:prstGeom>
          <a:solidFill>
            <a:srgbClr val="ED7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73767" y="2057400"/>
            <a:ext cx="1883663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ED7843"/>
                </a:solidFill>
                <a:latin typeface="Arial"/>
              </a:defRPr>
            </a:pPr>
            <a:r>
              <a:t>42.8 km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3767" y="2496312"/>
            <a:ext cx="1883663" cy="411479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" b="0" i="0">
                <a:solidFill>
                  <a:srgbClr val="242126"/>
                </a:solidFill>
                <a:latin typeface="Arial"/>
              </a:defRPr>
            </a:pPr>
            <a:r>
              <a:t>WUI interface length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3218688"/>
            <a:ext cx="4114800" cy="9144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2360" y="3218688"/>
            <a:ext cx="64008" cy="914400"/>
          </a:xfrm>
          <a:prstGeom prst="rect">
            <a:avLst/>
          </a:prstGeom>
          <a:solidFill>
            <a:srgbClr val="5E1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3337560"/>
            <a:ext cx="38039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80" b="1" i="0">
                <a:solidFill>
                  <a:srgbClr val="5E17EB"/>
                </a:solidFill>
                <a:latin typeface="Arial"/>
              </a:defRPr>
            </a:pPr>
            <a:r>
              <a:t>Planning 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3675887"/>
            <a:ext cx="3785615" cy="365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10" b="0" i="0">
                <a:solidFill>
                  <a:srgbClr val="242126"/>
                </a:solidFill>
                <a:latin typeface="Arial"/>
              </a:defRPr>
            </a:pPr>
            <a:r>
              <a:t>Use the road network and access routes to identify reachable assembly locations and prioritize response access.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4297680"/>
            <a:ext cx="4114800" cy="91440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7D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52360" y="4297680"/>
            <a:ext cx="64008" cy="914400"/>
          </a:xfrm>
          <a:prstGeom prst="rect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4416552"/>
            <a:ext cx="38039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80" b="1" i="0">
                <a:solidFill>
                  <a:srgbClr val="5CE1E6"/>
                </a:solidFill>
                <a:latin typeface="Arial"/>
              </a:defRPr>
            </a:pPr>
            <a:r>
              <a:t>Operational 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4754880"/>
            <a:ext cx="3785615" cy="3657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10" b="0" i="0">
                <a:solidFill>
                  <a:srgbClr val="242126"/>
                </a:solidFill>
                <a:latin typeface="Arial"/>
              </a:defRPr>
            </a:pPr>
            <a:r>
              <a:t>Combine evacuation accessibility with susceptibility and exposure so response planning reflects both fire likelihood and people/assets at risk.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0" y="5394960"/>
            <a:ext cx="4114800" cy="841248"/>
          </a:xfrm>
          <a:prstGeom prst="roundRect">
            <a:avLst/>
          </a:prstGeom>
          <a:solidFill>
            <a:srgbClr val="FFF7D1"/>
          </a:solidFill>
          <a:ln w="8890">
            <a:solidFill>
              <a:srgbClr val="F2E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6" y="553212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5E17EB"/>
                </a:solidFill>
                <a:latin typeface="Arial"/>
              </a:defRPr>
            </a:pPr>
            <a:r>
              <a:t>SOURCE LIMIT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5504688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30" b="0" i="0">
                <a:solidFill>
                  <a:srgbClr val="242126"/>
                </a:solidFill>
                <a:latin typeface="Arial"/>
              </a:defRPr>
            </a:pPr>
            <a:r>
              <a:t>The source states three safe zones are mapped, but the summary text does not name them individually.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SGNP Wildfire Susceptibility Mapping &amp; Disaster Risk Analysis</dc:title>
  <dc:subject>8-slide group project presentation following the mandatory presentation guideline</dc:subject>
  <dc:creator>FireWatch Analysts</dc:creator>
  <cp:keywords>SGNP, wildfire, GIS, AHP, susceptibility, risk exposure, evacuation accessibility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