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02920" y="347472"/>
            <a:ext cx="4251960" cy="3474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3504" y="356616"/>
            <a:ext cx="40507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DISASTER MANAGEMENT &amp; MITIGATION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646920" y="41148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0352" y="1115568"/>
            <a:ext cx="91440" cy="4434840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04672" y="1078992"/>
            <a:ext cx="507492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WILDFIRE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SUSCEPTIBILITY MAPPING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2619039"/>
            <a:ext cx="475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Disaster Risk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22960" y="3134061"/>
            <a:ext cx="47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Sanjay Gandhi National Park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Mumbai, Maharashtra             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961888" y="1005840"/>
            <a:ext cx="5760720" cy="4983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udy_area_map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607" y="1051560"/>
            <a:ext cx="566928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6126480" y="6126480"/>
            <a:ext cx="5577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10" u="none" cap="none" strike="noStrike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A GIS + AHP framework for susceptibility, exposure and evacuation planning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>
            <a:off x="894664" y="3898810"/>
            <a:ext cx="4846320" cy="2011680"/>
            <a:chOff x="758952" y="4114800"/>
            <a:chExt cx="4846320" cy="2011680"/>
          </a:xfrm>
        </p:grpSpPr>
        <p:sp>
          <p:nvSpPr>
            <p:cNvPr id="97" name="Google Shape;97;p13"/>
            <p:cNvSpPr/>
            <p:nvPr/>
          </p:nvSpPr>
          <p:spPr>
            <a:xfrm>
              <a:off x="758952" y="4114800"/>
              <a:ext cx="4846320" cy="201168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E7DFD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" name="Google Shape;98;p13"/>
            <p:cNvGrpSpPr/>
            <p:nvPr/>
          </p:nvGrpSpPr>
          <p:grpSpPr>
            <a:xfrm>
              <a:off x="932688" y="4261104"/>
              <a:ext cx="4434900" cy="662808"/>
              <a:chOff x="932688" y="4261104"/>
              <a:chExt cx="4434900" cy="662808"/>
            </a:xfrm>
          </p:grpSpPr>
          <p:sp>
            <p:nvSpPr>
              <p:cNvPr id="99" name="Google Shape;99;p13"/>
              <p:cNvSpPr txBox="1"/>
              <p:nvPr/>
            </p:nvSpPr>
            <p:spPr>
              <a:xfrm>
                <a:off x="932688" y="4261104"/>
                <a:ext cx="11703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5E17EB"/>
                    </a:solidFill>
                    <a:latin typeface="Arial"/>
                    <a:ea typeface="Arial"/>
                    <a:cs typeface="Arial"/>
                    <a:sym typeface="Arial"/>
                  </a:rPr>
                  <a:t>TEAM</a:t>
                </a:r>
                <a:endParaRPr/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2194560" y="4261104"/>
                <a:ext cx="3090600" cy="1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60" u="none" cap="none" strike="noStrike">
                    <a:solidFill>
                      <a:srgbClr val="242126"/>
                    </a:solidFill>
                    <a:latin typeface="Arial"/>
                    <a:ea typeface="Arial"/>
                    <a:cs typeface="Arial"/>
                    <a:sym typeface="Arial"/>
                  </a:rPr>
                  <a:t>FireWatch Analysts</a:t>
                </a:r>
                <a:endParaRPr/>
              </a:p>
            </p:txBody>
          </p:sp>
          <p:sp>
            <p:nvSpPr>
              <p:cNvPr id="101" name="Google Shape;101;p13"/>
              <p:cNvSpPr txBox="1"/>
              <p:nvPr/>
            </p:nvSpPr>
            <p:spPr>
              <a:xfrm>
                <a:off x="932688" y="4535424"/>
                <a:ext cx="11703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 u="none" cap="none" strike="noStrike">
                    <a:solidFill>
                      <a:srgbClr val="5E17EB"/>
                    </a:solidFill>
                    <a:latin typeface="Arial"/>
                    <a:ea typeface="Arial"/>
                    <a:cs typeface="Arial"/>
                    <a:sym typeface="Arial"/>
                  </a:rPr>
                  <a:t>STUDY AREA</a:t>
                </a:r>
                <a:endParaRPr/>
              </a:p>
            </p:txBody>
          </p:sp>
          <p:sp>
            <p:nvSpPr>
              <p:cNvPr id="102" name="Google Shape;102;p13"/>
              <p:cNvSpPr txBox="1"/>
              <p:nvPr/>
            </p:nvSpPr>
            <p:spPr>
              <a:xfrm>
                <a:off x="2194560" y="4535424"/>
                <a:ext cx="3090600" cy="1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60" u="none" cap="none" strike="noStrike">
                    <a:solidFill>
                      <a:srgbClr val="242126"/>
                    </a:solidFill>
                    <a:latin typeface="Arial"/>
                    <a:ea typeface="Arial"/>
                    <a:cs typeface="Arial"/>
                    <a:sym typeface="Arial"/>
                  </a:rPr>
                  <a:t>SGNP, Mumbai (104 km²)</a:t>
                </a:r>
                <a:endParaRPr/>
              </a:p>
            </p:txBody>
          </p:sp>
          <p:sp>
            <p:nvSpPr>
              <p:cNvPr id="103" name="Google Shape;103;p13"/>
              <p:cNvSpPr txBox="1"/>
              <p:nvPr/>
            </p:nvSpPr>
            <p:spPr>
              <a:xfrm>
                <a:off x="932688" y="4782312"/>
                <a:ext cx="4434900" cy="14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00">
                    <a:solidFill>
                      <a:srgbClr val="5E17EB"/>
                    </a:solidFill>
                    <a:latin typeface="Arial"/>
                    <a:ea typeface="Arial"/>
                    <a:cs typeface="Arial"/>
                    <a:sym typeface="Arial"/>
                  </a:rPr>
                  <a:t>MEMBER NAMES / ROLL NUMBERS</a:t>
                </a:r>
                <a:endParaRPr/>
              </a:p>
            </p:txBody>
          </p:sp>
        </p:grpSp>
        <p:grpSp>
          <p:nvGrpSpPr>
            <p:cNvPr id="104" name="Google Shape;104;p13"/>
            <p:cNvGrpSpPr/>
            <p:nvPr/>
          </p:nvGrpSpPr>
          <p:grpSpPr>
            <a:xfrm>
              <a:off x="932688" y="5016358"/>
              <a:ext cx="4517052" cy="710028"/>
              <a:chOff x="932688" y="4974336"/>
              <a:chExt cx="4517052" cy="710028"/>
            </a:xfrm>
          </p:grpSpPr>
          <p:sp>
            <p:nvSpPr>
              <p:cNvPr id="105" name="Google Shape;105;p13"/>
              <p:cNvSpPr txBox="1"/>
              <p:nvPr/>
            </p:nvSpPr>
            <p:spPr>
              <a:xfrm>
                <a:off x="932688" y="4974336"/>
                <a:ext cx="22404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1.</a:t>
                </a:r>
                <a:r>
                  <a:rPr lang="en-US" sz="810">
                    <a:solidFill>
                      <a:srgbClr val="18181A"/>
                    </a:solidFill>
                  </a:rPr>
                  <a:t>Aniket Dhoke 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| Roll No.- 10 </a:t>
                </a:r>
                <a:endParaRPr/>
              </a:p>
            </p:txBody>
          </p:sp>
          <p:sp>
            <p:nvSpPr>
              <p:cNvPr id="106" name="Google Shape;106;p13"/>
              <p:cNvSpPr txBox="1"/>
              <p:nvPr/>
            </p:nvSpPr>
            <p:spPr>
              <a:xfrm>
                <a:off x="3291840" y="4974336"/>
                <a:ext cx="21579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2. </a:t>
                </a:r>
                <a:r>
                  <a:rPr lang="en-US" sz="810">
                    <a:solidFill>
                      <a:srgbClr val="18181A"/>
                    </a:solidFill>
                  </a:rPr>
                  <a:t>Jude Fernandez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 | Roll No. </a:t>
                </a:r>
                <a:r>
                  <a:rPr lang="en-US" sz="810">
                    <a:solidFill>
                      <a:srgbClr val="18181A"/>
                    </a:solidFill>
                  </a:rPr>
                  <a:t>14</a:t>
                </a:r>
                <a:endParaRPr/>
              </a:p>
            </p:txBody>
          </p:sp>
          <p:sp>
            <p:nvSpPr>
              <p:cNvPr id="107" name="Google Shape;107;p13"/>
              <p:cNvSpPr txBox="1"/>
              <p:nvPr/>
            </p:nvSpPr>
            <p:spPr>
              <a:xfrm>
                <a:off x="932688" y="5257800"/>
                <a:ext cx="22404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3.</a:t>
                </a:r>
                <a:r>
                  <a:rPr lang="en-US" sz="810">
                    <a:solidFill>
                      <a:srgbClr val="18181A"/>
                    </a:solidFill>
                  </a:rPr>
                  <a:t>Atharva Gawkar 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| Roll No. </a:t>
                </a:r>
                <a:r>
                  <a:rPr lang="en-US" sz="810">
                    <a:solidFill>
                      <a:srgbClr val="18181A"/>
                    </a:solidFill>
                  </a:rPr>
                  <a:t>17</a:t>
                </a:r>
                <a:endParaRPr/>
              </a:p>
            </p:txBody>
          </p:sp>
          <p:sp>
            <p:nvSpPr>
              <p:cNvPr id="108" name="Google Shape;108;p13"/>
              <p:cNvSpPr txBox="1"/>
              <p:nvPr/>
            </p:nvSpPr>
            <p:spPr>
              <a:xfrm>
                <a:off x="3291840" y="5257800"/>
                <a:ext cx="21579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4. </a:t>
                </a:r>
                <a:r>
                  <a:rPr lang="en-US" sz="810">
                    <a:solidFill>
                      <a:srgbClr val="18181A"/>
                    </a:solidFill>
                  </a:rPr>
                  <a:t>Paras Ghanekar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 | Roll No.</a:t>
                </a:r>
                <a:r>
                  <a:rPr lang="en-US" sz="810">
                    <a:solidFill>
                      <a:srgbClr val="18181A"/>
                    </a:solidFill>
                  </a:rPr>
                  <a:t> 18</a:t>
                </a:r>
                <a:endParaRPr/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932688" y="5541264"/>
                <a:ext cx="22404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5. </a:t>
                </a:r>
                <a:r>
                  <a:rPr lang="en-US" sz="810">
                    <a:solidFill>
                      <a:srgbClr val="18181A"/>
                    </a:solidFill>
                  </a:rPr>
                  <a:t>Abdul Khalik Idrisi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 | Roll </a:t>
                </a:r>
                <a:r>
                  <a:rPr lang="en-US" sz="810">
                    <a:solidFill>
                      <a:srgbClr val="18181A"/>
                    </a:solidFill>
                  </a:rPr>
                  <a:t>No. 20</a:t>
                </a:r>
                <a:endParaRPr/>
              </a:p>
            </p:txBody>
          </p:sp>
          <p:sp>
            <p:nvSpPr>
              <p:cNvPr id="110" name="Google Shape;110;p13"/>
              <p:cNvSpPr txBox="1"/>
              <p:nvPr/>
            </p:nvSpPr>
            <p:spPr>
              <a:xfrm>
                <a:off x="3291840" y="5541264"/>
                <a:ext cx="2157900" cy="1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25" lIns="0" spcFirstLastPara="1" rIns="0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6. </a:t>
                </a:r>
                <a:r>
                  <a:rPr lang="en-US" sz="810">
                    <a:solidFill>
                      <a:srgbClr val="18181A"/>
                    </a:solidFill>
                  </a:rPr>
                  <a:t>Nissim Toke</a:t>
                </a:r>
                <a:r>
                  <a:rPr b="0" i="0" lang="en-US" sz="810">
                    <a:solidFill>
                      <a:srgbClr val="18181A"/>
                    </a:solidFill>
                    <a:latin typeface="Arial"/>
                    <a:ea typeface="Arial"/>
                    <a:cs typeface="Arial"/>
                    <a:sym typeface="Arial"/>
                  </a:rPr>
                  <a:t> | Roll </a:t>
                </a:r>
                <a:r>
                  <a:rPr lang="en-US" sz="810">
                    <a:solidFill>
                      <a:srgbClr val="18181A"/>
                    </a:solidFill>
                  </a:rPr>
                  <a:t>No. 61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A high-value forest sits at a high-pressure urban interface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Background and problem statement as provided in the source deck.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48640" y="1865376"/>
            <a:ext cx="6720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548640" y="1865376"/>
            <a:ext cx="64008" cy="65836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31520" y="1984248"/>
            <a:ext cx="6409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31520" y="2233971"/>
            <a:ext cx="63918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SGNP spans 104 km² in northern Mumbai and is described in the source as the world’s largest urban national park.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48640" y="2670048"/>
            <a:ext cx="6720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48640" y="2670048"/>
            <a:ext cx="64008" cy="658368"/>
          </a:xfrm>
          <a:prstGeom prst="rect">
            <a:avLst/>
          </a:prstGeom>
          <a:solidFill>
            <a:srgbClr val="ED78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731520" y="2788920"/>
            <a:ext cx="6409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Urban–forest interface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31520" y="3127248"/>
            <a:ext cx="6391655" cy="10972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The park is surrounded by 20+ million residents, creating a critical urban–forest interface (UFI).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48640" y="3474720"/>
            <a:ext cx="6720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548640" y="3474720"/>
            <a:ext cx="64008" cy="658368"/>
          </a:xfrm>
          <a:prstGeom prst="rect">
            <a:avLst/>
          </a:prstGeom>
          <a:solidFill>
            <a:srgbClr val="FF57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731520" y="3540428"/>
            <a:ext cx="64098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FF5757"/>
                </a:solidFill>
                <a:latin typeface="Arial"/>
                <a:ea typeface="Arial"/>
                <a:cs typeface="Arial"/>
                <a:sym typeface="Arial"/>
              </a:rPr>
              <a:t>Seasonality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731520" y="3754711"/>
            <a:ext cx="639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The dry season (November–May) raises fuel-load concerns; recurring brush fires threaten ecology and human settlements.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48640" y="4279392"/>
            <a:ext cx="6720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548640" y="4279392"/>
            <a:ext cx="64008" cy="658368"/>
          </a:xfrm>
          <a:prstGeom prst="rect">
            <a:avLst/>
          </a:prstGeom>
          <a:solidFill>
            <a:srgbClr val="00BF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731520" y="4362822"/>
            <a:ext cx="64098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Planning gap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731520" y="4612545"/>
            <a:ext cx="63918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The source identifies a lack of a systematic spatial wildfire-risk map for emergency response planning.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548640" y="5084064"/>
            <a:ext cx="672084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548640" y="5084064"/>
            <a:ext cx="64008" cy="658368"/>
          </a:xfrm>
          <a:prstGeom prst="rect">
            <a:avLst/>
          </a:prstGeom>
          <a:solidFill>
            <a:srgbClr val="5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731520" y="5202936"/>
            <a:ext cx="6409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5CE1E6"/>
                </a:solidFill>
                <a:latin typeface="Arial"/>
                <a:ea typeface="Arial"/>
                <a:cs typeface="Arial"/>
                <a:sym typeface="Arial"/>
              </a:rPr>
              <a:t>Study response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731520" y="5541264"/>
            <a:ext cx="6391655" cy="10972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The project applies GIS + Multi-Criteria Decision Analysis (MCDA) to create a spatial fire-risk framework.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7543800" y="1865376"/>
            <a:ext cx="4096512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udy_area_map.pn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911095"/>
            <a:ext cx="4005072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7662672" y="628192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7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Study-area map plate highlights the park boundary, lakes, arterial roads, gates, ridges and surrounding urban municipalities.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Six objectives frame the analysis from susceptibility to response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Objectives reproduced from the source presentation.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66928" y="1874519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731520" y="2039112"/>
            <a:ext cx="475488" cy="475488"/>
          </a:xfrm>
          <a:prstGeom prst="ellipse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740664" y="20574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325880" y="20574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749808" y="2660903"/>
            <a:ext cx="2944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Major environmental and human factors driving wildfire susceptibility in SGNP.</a:t>
            </a:r>
            <a:endParaRPr sz="1700"/>
          </a:p>
        </p:txBody>
      </p:sp>
      <p:sp>
        <p:nvSpPr>
          <p:cNvPr id="163" name="Google Shape;163;p15"/>
          <p:cNvSpPr/>
          <p:nvPr/>
        </p:nvSpPr>
        <p:spPr>
          <a:xfrm>
            <a:off x="4142232" y="1874519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4306824" y="2039112"/>
            <a:ext cx="475488" cy="475488"/>
          </a:xfrm>
          <a:prstGeom prst="ellipse">
            <a:avLst/>
          </a:prstGeom>
          <a:solidFill>
            <a:srgbClr val="ED78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4315968" y="20574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4901184" y="20574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325112" y="2660903"/>
            <a:ext cx="2944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A GIS-based Wildfire Susceptibility Zonation framework using five conditioning factors.</a:t>
            </a:r>
            <a:endParaRPr sz="1250"/>
          </a:p>
        </p:txBody>
      </p:sp>
      <p:sp>
        <p:nvSpPr>
          <p:cNvPr id="168" name="Google Shape;168;p15"/>
          <p:cNvSpPr/>
          <p:nvPr/>
        </p:nvSpPr>
        <p:spPr>
          <a:xfrm>
            <a:off x="7717536" y="1874519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7882127" y="2039112"/>
            <a:ext cx="475488" cy="475488"/>
          </a:xfrm>
          <a:prstGeom prst="ellipse">
            <a:avLst/>
          </a:prstGeom>
          <a:solidFill>
            <a:srgbClr val="FF57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7891271" y="20574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476488" y="20574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5757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7900415" y="2660903"/>
            <a:ext cx="2944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Exposure and risk hotspots where high susceptibility intersects human settlements.</a:t>
            </a:r>
            <a:endParaRPr sz="1250"/>
          </a:p>
        </p:txBody>
      </p:sp>
      <p:sp>
        <p:nvSpPr>
          <p:cNvPr id="173" name="Google Shape;173;p15"/>
          <p:cNvSpPr/>
          <p:nvPr/>
        </p:nvSpPr>
        <p:spPr>
          <a:xfrm>
            <a:off x="566928" y="4005072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31520" y="4169663"/>
            <a:ext cx="475488" cy="475488"/>
          </a:xfrm>
          <a:prstGeom prst="ellipse">
            <a:avLst/>
          </a:prstGeom>
          <a:solidFill>
            <a:srgbClr val="00BF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740664" y="41879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1325880" y="418795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Assess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749808" y="4791456"/>
            <a:ext cx="2944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Emergency evacuation accessibility and priority zones for response planning.</a:t>
            </a:r>
            <a:endParaRPr sz="1250"/>
          </a:p>
        </p:txBody>
      </p:sp>
      <p:sp>
        <p:nvSpPr>
          <p:cNvPr id="178" name="Google Shape;178;p15"/>
          <p:cNvSpPr/>
          <p:nvPr/>
        </p:nvSpPr>
        <p:spPr>
          <a:xfrm>
            <a:off x="4142232" y="4005072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4306824" y="4169663"/>
            <a:ext cx="475488" cy="475488"/>
          </a:xfrm>
          <a:prstGeom prst="ellipse">
            <a:avLst/>
          </a:prstGeom>
          <a:solidFill>
            <a:srgbClr val="5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4315968" y="41879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4901184" y="418795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E1E6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4325112" y="4791456"/>
            <a:ext cx="2944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Actionable disaster-mitigation and preparedness actions for fire management.</a:t>
            </a:r>
            <a:endParaRPr sz="1250"/>
          </a:p>
        </p:txBody>
      </p:sp>
      <p:sp>
        <p:nvSpPr>
          <p:cNvPr id="183" name="Google Shape;183;p15"/>
          <p:cNvSpPr/>
          <p:nvPr/>
        </p:nvSpPr>
        <p:spPr>
          <a:xfrm>
            <a:off x="7717536" y="4005072"/>
            <a:ext cx="333756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7882127" y="4169663"/>
            <a:ext cx="475488" cy="475488"/>
          </a:xfrm>
          <a:prstGeom prst="ellipse">
            <a:avLst/>
          </a:prstGeom>
          <a:solidFill>
            <a:srgbClr val="FF66C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7891271" y="41879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8476488" y="418795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Demonstrate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7900415" y="4791456"/>
            <a:ext cx="2944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How spatial analysis can support wildfire disaster-management decisions.</a:t>
            </a:r>
            <a:endParaRPr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STUDY AREA &amp; DATA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Study area and data sources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SGNP, Mumbai • 104 km² • 19.22°N, 72.91°E • Tropical deciduous forest • Dry season: Nov–May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4892040" y="1847088"/>
            <a:ext cx="6766560" cy="45537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udy_area_map.png"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59" y="1892807"/>
            <a:ext cx="6675120" cy="446227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/>
          <p:nvPr/>
        </p:nvSpPr>
        <p:spPr>
          <a:xfrm>
            <a:off x="566928" y="1901952"/>
            <a:ext cx="3950208" cy="438912"/>
          </a:xfrm>
          <a:prstGeom prst="roundRect">
            <a:avLst>
              <a:gd fmla="val 16667" name="adj"/>
            </a:avLst>
          </a:prstGeom>
          <a:solidFill>
            <a:srgbClr val="5E17EB"/>
          </a:solidFill>
          <a:ln cap="flat" cmpd="sng" w="9525">
            <a:solidFill>
              <a:srgbClr val="5E1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676656" y="1920240"/>
            <a:ext cx="2011679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LAYER / TYPE / SCALE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2834640" y="1920240"/>
            <a:ext cx="16093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566928" y="2414016"/>
            <a:ext cx="3950208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566928" y="2523744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676656" y="2468880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DEM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676656" y="2697480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56570"/>
                </a:solidFill>
                <a:latin typeface="Arial"/>
                <a:ea typeface="Arial"/>
                <a:cs typeface="Arial"/>
                <a:sym typeface="Arial"/>
              </a:rPr>
              <a:t>Raster · 30 m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2834640" y="245059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SRTM / NASA EarthData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566928" y="3090672"/>
            <a:ext cx="3950208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566928" y="3200400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676656" y="3145536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Road network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676656" y="3374136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56570"/>
                </a:solidFill>
                <a:latin typeface="Arial"/>
                <a:ea typeface="Arial"/>
                <a:cs typeface="Arial"/>
                <a:sym typeface="Arial"/>
              </a:rPr>
              <a:t>Vector · lines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2834640" y="3127248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OpenStreetMap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566928" y="3767328"/>
            <a:ext cx="3950208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566928" y="3877056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676656" y="3822191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Settlements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676656" y="4050791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56570"/>
                </a:solidFill>
                <a:latin typeface="Arial"/>
                <a:ea typeface="Arial"/>
                <a:cs typeface="Arial"/>
                <a:sym typeface="Arial"/>
              </a:rPr>
              <a:t>Vector · points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2834640" y="3803904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OSM / Census India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566928" y="4443983"/>
            <a:ext cx="3950208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566928" y="4553712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676656" y="4498847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NDVI / vegetation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676656" y="4727447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56570"/>
                </a:solidFill>
                <a:latin typeface="Arial"/>
                <a:ea typeface="Arial"/>
                <a:cs typeface="Arial"/>
                <a:sym typeface="Arial"/>
              </a:rPr>
              <a:t>Raster · 250 m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2834640" y="4480559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MODIS Terra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566928" y="5120640"/>
            <a:ext cx="3950208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566928" y="5230368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676656" y="5175503"/>
            <a:ext cx="199339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Park boundary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676656" y="5404103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56570"/>
                </a:solidFill>
                <a:latin typeface="Arial"/>
                <a:ea typeface="Arial"/>
                <a:cs typeface="Arial"/>
                <a:sym typeface="Arial"/>
              </a:rPr>
              <a:t>Vector · polygon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2834640" y="5157216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Maharashtra Forest Dept.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A seven-step GIS workflow turns spatial layers into response priorities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Multi-Criteria Decision Analysis (MCDA) with AHP-weighted overlay.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621792" y="1828800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749808" y="1901952"/>
            <a:ext cx="356616" cy="356616"/>
          </a:xfrm>
          <a:prstGeom prst="ellipse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758952" y="1929384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261872" y="190195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3474720" y="1892807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SRTM DEM · OSM roads and settlements · MODIS NDVI · forest boundary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621792" y="2436876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749808" y="2510028"/>
            <a:ext cx="356616" cy="356616"/>
          </a:xfrm>
          <a:prstGeom prst="ellipse">
            <a:avLst/>
          </a:prstGeom>
          <a:solidFill>
            <a:srgbClr val="ED78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758952" y="2537460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261872" y="25100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Pre-processing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3474720" y="2500884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Project to WGS84 · clip to SGNP · resample to 30 m grid</a:t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621792" y="3044952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749808" y="3118104"/>
            <a:ext cx="356616" cy="356616"/>
          </a:xfrm>
          <a:prstGeom prst="ellipse">
            <a:avLst/>
          </a:prstGeom>
          <a:solidFill>
            <a:srgbClr val="00BF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758952" y="3145536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261872" y="311810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Factor reclassification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3474720" y="3108960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Slope · elevation · NDVI · road proximity · settlement proximity; each factor on a 1–5 scale</a:t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621792" y="3653028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749808" y="3726180"/>
            <a:ext cx="356616" cy="356616"/>
          </a:xfrm>
          <a:prstGeom prst="ellipse">
            <a:avLst/>
          </a:prstGeom>
          <a:solidFill>
            <a:srgbClr val="FF57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758952" y="3753612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1261872" y="37261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FF5757"/>
                </a:solidFill>
                <a:latin typeface="Arial"/>
                <a:ea typeface="Arial"/>
                <a:cs typeface="Arial"/>
                <a:sym typeface="Arial"/>
              </a:rPr>
              <a:t>Weighted overlay (AHP)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3474720" y="3717036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WSI = 0.40×Slope + 0.25×NDVI + 0.15×Elevation + 0.10×Roads + 0.10×Settlements</a:t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621792" y="4261104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749808" y="4334256"/>
            <a:ext cx="356616" cy="356616"/>
          </a:xfrm>
          <a:prstGeom prst="ellipse">
            <a:avLst/>
          </a:prstGeom>
          <a:solidFill>
            <a:srgbClr val="FF66C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758952" y="4361688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1261872" y="433425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Susceptibility zonation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3474720" y="4325112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Classify the weighted index into five classes, from Very Low to Very High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621792" y="4869180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749808" y="4942332"/>
            <a:ext cx="356616" cy="356616"/>
          </a:xfrm>
          <a:prstGeom prst="ellipse">
            <a:avLst/>
          </a:prstGeom>
          <a:solidFill>
            <a:srgbClr val="5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758952" y="4969764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261872" y="494233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Risk and exposure overlay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3474720" y="4933188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Risk = susceptibility × exposure (human settlements and infrastructure)</a:t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621792" y="5477256"/>
            <a:ext cx="10954512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749808" y="5550408"/>
            <a:ext cx="356616" cy="356616"/>
          </a:xfrm>
          <a:prstGeom prst="ellipse">
            <a:avLst/>
          </a:prstGeom>
          <a:solidFill>
            <a:srgbClr val="FFDE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758952" y="5577840"/>
            <a:ext cx="33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1261872" y="555040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Evacuation planning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3474720" y="5541264"/>
            <a:ext cx="7818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Network analysis · road accessibility · safe-zone identification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640080" y="6199632"/>
            <a:ext cx="10881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4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The source deck also contains a colored workflow graphic; this slide re-expresses its stages in the supplied light theme.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RESULTS · MAP 2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Susceptibility zones vary from exposed edges to moist core areas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Map plate and class statistics reproduced from the source deck.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530352" y="1847088"/>
            <a:ext cx="6355080" cy="4361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sceptibility_map.png" id="291" name="Google Shape;2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92807"/>
            <a:ext cx="6263640" cy="427024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7178040" y="192024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AREA SHARE BY CLASS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7150608" y="2286000"/>
            <a:ext cx="44805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7150608" y="2286000"/>
            <a:ext cx="109728" cy="621792"/>
          </a:xfrm>
          <a:prstGeom prst="rect">
            <a:avLst/>
          </a:prstGeom>
          <a:solidFill>
            <a:srgbClr val="FF57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7388352" y="2359152"/>
            <a:ext cx="1417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Very High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8732520" y="2359152"/>
            <a:ext cx="2697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9.9 km²  ·  9.5%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7388352" y="2596896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Steep slopes and high NDVI periphery near settlements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7150608" y="3035808"/>
            <a:ext cx="44805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7150608" y="3035808"/>
            <a:ext cx="109728" cy="621792"/>
          </a:xfrm>
          <a:prstGeom prst="rect">
            <a:avLst/>
          </a:prstGeom>
          <a:solidFill>
            <a:srgbClr val="ED78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7388352" y="3108960"/>
            <a:ext cx="1417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8732520" y="3108960"/>
            <a:ext cx="2697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20.5 km²  ·  19.7%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7388352" y="3346703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Degraded areas near Borivali and Dahisar gates</a:t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7150608" y="3785615"/>
            <a:ext cx="44805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7150608" y="3785615"/>
            <a:ext cx="109728" cy="621792"/>
          </a:xfrm>
          <a:prstGeom prst="rect">
            <a:avLst/>
          </a:prstGeom>
          <a:solidFill>
            <a:srgbClr val="FFDE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7388352" y="3858768"/>
            <a:ext cx="1417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8732520" y="3858768"/>
            <a:ext cx="2697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29.2 km²  ·  28.1%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7388352" y="4096511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Mixed forest–urban transition zones</a:t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7150608" y="4535424"/>
            <a:ext cx="44805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150608" y="4535424"/>
            <a:ext cx="109728" cy="621792"/>
          </a:xfrm>
          <a:prstGeom prst="rect">
            <a:avLst/>
          </a:prstGeom>
          <a:solidFill>
            <a:srgbClr val="00BF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7388352" y="4608576"/>
            <a:ext cx="1417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8732520" y="4608576"/>
            <a:ext cx="2697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25.4 km²  ·  24.5%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7388352" y="4846320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Dense core forest with low ignition probability</a:t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7150608" y="5285231"/>
            <a:ext cx="44805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7150608" y="5285231"/>
            <a:ext cx="109728" cy="621792"/>
          </a:xfrm>
          <a:prstGeom prst="rect">
            <a:avLst/>
          </a:prstGeom>
          <a:solidFill>
            <a:srgbClr val="5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7388352" y="5358383"/>
            <a:ext cx="1417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Very Low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8732520" y="5358383"/>
            <a:ext cx="2697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18.9 km²  ·  18.2%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7388352" y="5596127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Core forest and water bodies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7223760" y="6108192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The map legend additionally marks reservoir waterbodies as “zero ignition.”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RESULTS · MAP 3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Exposure is concentrated along the urban–forest margin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Risk exposure map, asset layers and map-plate metrics from the source.</a:t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530352" y="1847088"/>
            <a:ext cx="6656832" cy="4489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isk_exposure_map.png" id="332" name="Google Shape;3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92807"/>
            <a:ext cx="6565392" cy="439826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7424927" y="1883664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EXPOSURE INDICATORS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7406640" y="2267712"/>
            <a:ext cx="4160520" cy="52120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7571231" y="23591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500 m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9006840" y="2359152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WUI exposure buffer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7406640" y="2907791"/>
            <a:ext cx="4160520" cy="52120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571231" y="29992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42.8 km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9006840" y="2999232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WUI total length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7406640" y="3547872"/>
            <a:ext cx="4160520" cy="52120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571231" y="363931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575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9006840" y="3639312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Exposed tribal padas / settlements</a:t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7406640" y="4187952"/>
            <a:ext cx="4160520" cy="52120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571231" y="427939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&gt;450,000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9006840" y="4279392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Estimated fringe population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7406640" y="4828031"/>
            <a:ext cx="4160520" cy="52120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571231" y="4919471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E1E6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9006840" y="4919471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Core water catchment protection shown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7406640" y="5596128"/>
            <a:ext cx="4160520" cy="658368"/>
          </a:xfrm>
          <a:prstGeom prst="roundRect">
            <a:avLst>
              <a:gd fmla="val 16667" name="adj"/>
            </a:avLst>
          </a:prstGeom>
          <a:solidFill>
            <a:srgbClr val="FFF0E7"/>
          </a:solidFill>
          <a:ln cap="flat" cmpd="sng" w="9525">
            <a:solidFill>
              <a:srgbClr val="F6D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589520" y="5696712"/>
            <a:ext cx="1280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MAP CALLOUT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732520" y="5669280"/>
            <a:ext cx="25877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Dense residential clusters are marked as high asset exposure on the western boundary.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/>
          <p:nvPr/>
        </p:nvSpPr>
        <p:spPr>
          <a:xfrm>
            <a:off x="384048" y="20116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RESULTS · MAP 4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OCTOBER 2026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10101"/>
                </a:solidFill>
                <a:latin typeface="Arial"/>
                <a:ea typeface="Arial"/>
                <a:cs typeface="Arial"/>
                <a:sym typeface="Arial"/>
              </a:rPr>
              <a:t>Accessibility analysis is intended to guide safe movement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502920" y="1188720"/>
            <a:ext cx="11109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>
                <a:solidFill>
                  <a:srgbClr val="68636A"/>
                </a:solidFill>
                <a:latin typeface="Arial"/>
                <a:ea typeface="Arial"/>
                <a:cs typeface="Arial"/>
                <a:sym typeface="Arial"/>
              </a:rPr>
              <a:t>Source framework: network analysis, road accessibility and safe-zone identification.</a:t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>
                <a:solidFill>
                  <a:srgbClr val="817A70"/>
                </a:solidFill>
                <a:latin typeface="Arial"/>
                <a:ea typeface="Arial"/>
                <a:cs typeface="Arial"/>
                <a:sym typeface="Arial"/>
              </a:rPr>
              <a:t>SGNP WILDFIRE RISK ANALYSIS  •  OCTOBER 2026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530352" y="1847088"/>
            <a:ext cx="6656832" cy="4489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acuation_accessibility_map.png" id="365" name="Google Shape;3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92807"/>
            <a:ext cx="6565392" cy="439826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0"/>
          <p:cNvSpPr/>
          <p:nvPr/>
        </p:nvSpPr>
        <p:spPr>
          <a:xfrm>
            <a:off x="7452360" y="1901952"/>
            <a:ext cx="182880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7452360" y="1901952"/>
            <a:ext cx="1828800" cy="50292"/>
          </a:xfrm>
          <a:prstGeom prst="rect">
            <a:avLst/>
          </a:prstGeom>
          <a:solidFill>
            <a:srgbClr val="00BF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562088" y="2057400"/>
            <a:ext cx="160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7562088" y="2496312"/>
            <a:ext cx="160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Safe zones mapped</a:t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9464040" y="1901952"/>
            <a:ext cx="210312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9464040" y="1901952"/>
            <a:ext cx="2103120" cy="50292"/>
          </a:xfrm>
          <a:prstGeom prst="rect">
            <a:avLst/>
          </a:prstGeom>
          <a:solidFill>
            <a:srgbClr val="ED78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9573767" y="2057400"/>
            <a:ext cx="18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ED7843"/>
                </a:solidFill>
                <a:latin typeface="Arial"/>
                <a:ea typeface="Arial"/>
                <a:cs typeface="Arial"/>
                <a:sym typeface="Arial"/>
              </a:rPr>
              <a:t>42.8 km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9573767" y="2496312"/>
            <a:ext cx="188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WUI interface length</a:t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7452360" y="3218688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7452360" y="3218688"/>
            <a:ext cx="64008" cy="914400"/>
          </a:xfrm>
          <a:prstGeom prst="rect">
            <a:avLst/>
          </a:prstGeom>
          <a:solidFill>
            <a:srgbClr val="5E17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7635240" y="3337560"/>
            <a:ext cx="3804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Planning logic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7635240" y="3675887"/>
            <a:ext cx="378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>
                <a:solidFill>
                  <a:srgbClr val="242126"/>
                </a:solidFill>
                <a:latin typeface="Arial"/>
                <a:ea typeface="Arial"/>
                <a:cs typeface="Arial"/>
                <a:sym typeface="Arial"/>
              </a:rPr>
              <a:t>Use the road network and access routes to identify reachable assembly locations and prioritize response access.</a:t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7452360" y="4297680"/>
            <a:ext cx="64008" cy="914400"/>
          </a:xfrm>
          <a:prstGeom prst="rect">
            <a:avLst/>
          </a:prstGeom>
          <a:solidFill>
            <a:srgbClr val="5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" name="Google Shape;379;p20"/>
          <p:cNvGrpSpPr/>
          <p:nvPr/>
        </p:nvGrpSpPr>
        <p:grpSpPr>
          <a:xfrm>
            <a:off x="7452360" y="4297680"/>
            <a:ext cx="4114800" cy="914400"/>
            <a:chOff x="7452360" y="4297680"/>
            <a:chExt cx="4114800" cy="914400"/>
          </a:xfrm>
        </p:grpSpPr>
        <p:sp>
          <p:nvSpPr>
            <p:cNvPr id="380" name="Google Shape;380;p20"/>
            <p:cNvSpPr/>
            <p:nvPr/>
          </p:nvSpPr>
          <p:spPr>
            <a:xfrm>
              <a:off x="7452360" y="4297680"/>
              <a:ext cx="4114800" cy="9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E7DFD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0"/>
            <p:cNvSpPr txBox="1"/>
            <p:nvPr/>
          </p:nvSpPr>
          <p:spPr>
            <a:xfrm>
              <a:off x="7635240" y="4416552"/>
              <a:ext cx="38040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80">
                  <a:solidFill>
                    <a:srgbClr val="5CE1E6"/>
                  </a:solidFill>
                  <a:latin typeface="Arial"/>
                  <a:ea typeface="Arial"/>
                  <a:cs typeface="Arial"/>
                  <a:sym typeface="Arial"/>
                </a:rPr>
                <a:t>Operational use</a:t>
              </a:r>
              <a:endParaRPr/>
            </a:p>
          </p:txBody>
        </p:sp>
        <p:sp>
          <p:nvSpPr>
            <p:cNvPr id="382" name="Google Shape;382;p20"/>
            <p:cNvSpPr txBox="1"/>
            <p:nvPr/>
          </p:nvSpPr>
          <p:spPr>
            <a:xfrm>
              <a:off x="7635240" y="4754880"/>
              <a:ext cx="3785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10">
                  <a:solidFill>
                    <a:srgbClr val="242126"/>
                  </a:solidFill>
                  <a:latin typeface="Arial"/>
                  <a:ea typeface="Arial"/>
                  <a:cs typeface="Arial"/>
                  <a:sym typeface="Arial"/>
                </a:rPr>
                <a:t>Combine evacuation accessibility with susceptibility and exposure so response planning reflects both fire likelihood and people/assets at risk.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