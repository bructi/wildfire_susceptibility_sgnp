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🔥  DISASTER MANAGEMENT &amp; MITIGATION — GROUP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73152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Wildfire Susceptibility Mapping &amp;
Disaster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423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</a:rPr>
              <a:t>Sanjay Gandhi National Park, Mumbai, Maharashtra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108960"/>
            <a:ext cx="5029200" cy="2286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2461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Team Name: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2461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FireWatch Analysts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3016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Study Area: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3016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SGNP, Mumbai (104 km²)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014215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Methodology: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014215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GIS + Multi-Criteria AHP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3982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Tools Used: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3982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ArcGIS Pro / Python 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7823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8A6FF"/>
                </a:solidFill>
              </a:rPr>
              <a:t>Date: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478231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October 2026</a:t>
            </a:r>
          </a:p>
        </p:txBody>
      </p:sp>
      <p:pic>
        <p:nvPicPr>
          <p:cNvPr id="19" name="Picture 18" descr="map_01_stud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548640"/>
            <a:ext cx="5943600" cy="5943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" y="0"/>
            <a:ext cx="12134088" cy="7315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1C"/>
                </a:solidFill>
              </a:rP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Background &amp; Research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9844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Sanjay Gandhi National Park (SGNP) spans 104 km² in northern Mumbai — the world's largest urban national park.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94560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6712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Surrounded by 20+ million residents, it represents a critical Urban-Forest Interface (UFI) with extreme fire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39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3580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Dry season (Nov–May) creates high fuel loads; recurring brush fires threaten both ecology and human settlements.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31920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904487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Despite recurring threats, no systematic spatial wildfire risk map exists for emergency response planning.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800600"/>
            <a:ext cx="54864" cy="6400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73168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9D1D9"/>
                </a:solidFill>
              </a:rPr>
              <a:t>This study applies GIS + Multi-Criteria Decision Analysis (MCDA) to create a comprehensive fire risk framework.</a:t>
            </a:r>
          </a:p>
        </p:txBody>
      </p:sp>
      <p:pic>
        <p:nvPicPr>
          <p:cNvPr id="17" name="Picture 16" descr="map_01_stud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914400"/>
            <a:ext cx="3474720" cy="530352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Study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Identify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Identify major environmental &amp; human factors driving wildfire susceptibility in SGNP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146304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FB95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Develop a GIS-based Wildfire Susceptibility Zonation framework using 5 conditioning factors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29922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157276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05740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Map exposure &amp; risk hotspots where high susceptibility intersects human settlements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7490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85149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5196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Assess emergency evacuation accessibility and identify priority zones for response planning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365760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37490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C8CFF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Recommend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59" y="425196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Provide actionable disaster-mitigation &amp; preparedness recommendations for fire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657600"/>
            <a:ext cx="3566160" cy="1920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374903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9D353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767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Demonstrate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4251960"/>
            <a:ext cx="3291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Demonstrate how spatial analysis can support wildfire disaster-management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STUDY AREA &amp; 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Sanjay Gandhi National Park — Geographic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104 km²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37160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4173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7007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19.22°N, 72.91°E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19456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40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523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Mumbai, Maharashtra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19456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22402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Elevation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523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12 – 480 m ASL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063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Forest Type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3467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Tropical Deciduous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0" y="3017520"/>
            <a:ext cx="2560320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06323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Dry Season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346703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November – 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Data 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434840"/>
            <a:ext cx="2423160" cy="347472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4453128"/>
            <a:ext cx="2377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Data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434840"/>
            <a:ext cx="3063240" cy="347472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4453128"/>
            <a:ext cx="3017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Type &amp; Resolution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434840"/>
            <a:ext cx="2880360" cy="347472"/>
          </a:xfrm>
          <a:prstGeom prst="rect">
            <a:avLst/>
          </a:prstGeom>
          <a:solidFill>
            <a:srgbClr val="1C2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59" y="445312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8A6FF"/>
                </a:solidFill>
              </a:rPr>
              <a:t>Source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828032"/>
            <a:ext cx="24231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8463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4828032"/>
            <a:ext cx="30632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484632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Raster (30m)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4828032"/>
            <a:ext cx="28803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80759" y="484632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SRTM / NASA EarthData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175504"/>
            <a:ext cx="242316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5193792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Road Network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5175504"/>
            <a:ext cx="306324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80360" y="51937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Vector (Lines)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5175504"/>
            <a:ext cx="288036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5193792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OpenStreetMap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522976"/>
            <a:ext cx="24231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554126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Settlements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5522976"/>
            <a:ext cx="30632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80360" y="554126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Vector (Points)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5522976"/>
            <a:ext cx="28803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80759" y="5541264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OSM / Census India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870448"/>
            <a:ext cx="242316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0040" y="58887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NDVI/Vegetation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5870448"/>
            <a:ext cx="306324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80360" y="58887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Raster (250m)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5870448"/>
            <a:ext cx="2880360" cy="32918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80759" y="5888736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MODIS Terra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6217920"/>
            <a:ext cx="24231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623620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Park Boundary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6217920"/>
            <a:ext cx="306324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880360" y="62362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Vector (Polygon)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6217920"/>
            <a:ext cx="2880360" cy="3291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59" y="62362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Maharashtra Forest Dept.</a:t>
            </a:r>
          </a:p>
        </p:txBody>
      </p:sp>
      <p:pic>
        <p:nvPicPr>
          <p:cNvPr id="61" name="Picture 60" descr="map_01_study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943600" cy="5120640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C8CFF"/>
                </a:solidFill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Multi-Criteria GIS Workflow — Step by Step</a:t>
            </a:r>
          </a:p>
        </p:txBody>
      </p:sp>
      <p:pic>
        <p:nvPicPr>
          <p:cNvPr id="6" name="Picture 5" descr="methodology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30352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60720" y="1097280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0" y="1097280"/>
            <a:ext cx="45720" cy="80467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11155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1. Data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4475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SRTM DEM, OSM Roads/Settlements, MODIS NDVI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993391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0" y="1993391"/>
            <a:ext cx="45720" cy="80467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0116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2. Pre-Processing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34086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Project to WGS84, Clip to SGNP, Resample 30m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889504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2889504"/>
            <a:ext cx="45720" cy="804672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2907791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3. Reclassification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3697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Each factor classified into 1–5 vulnerability scale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3785615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3785615"/>
            <a:ext cx="45720" cy="80467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3803904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4. Weighted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133087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WSI = 0.40×Slope+0.25×NDVI+0.15×Elev+...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4681728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4681728"/>
            <a:ext cx="45720" cy="80467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4700016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5. Risk Zonation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0292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Susceptibility × Exposure = Combined Risk Map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5577840"/>
            <a:ext cx="6217920" cy="80467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60720" y="5577840"/>
            <a:ext cx="45720" cy="804672"/>
          </a:xfrm>
          <a:prstGeom prst="rect">
            <a:avLst/>
          </a:prstGeom>
          <a:solidFill>
            <a:srgbClr val="39D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55961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6. Evacuation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92531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Network analysis, route accessibility, safe zones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7191C"/>
                </a:solidFill>
              </a:rPr>
              <a:t>FINDINGS — MAP 1 &amp; MAP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Wildfire Susceptibility Zonation Results</a:t>
            </a:r>
          </a:p>
        </p:txBody>
      </p:sp>
      <p:pic>
        <p:nvPicPr>
          <p:cNvPr id="6" name="Picture 5" descr="map_02_wildfire_suscept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3035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607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Key Findings: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600200"/>
            <a:ext cx="164592" cy="777240"/>
          </a:xfrm>
          <a:prstGeom prst="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61848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Very High (9.5%)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9.9 km² — Steep slopes + High NDVI periphery near settlements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2560320"/>
            <a:ext cx="164592" cy="777240"/>
          </a:xfrm>
          <a:prstGeom prst="rect">
            <a:avLst/>
          </a:prstGeom>
          <a:solidFill>
            <a:srgbClr val="FDA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257860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High (19.7%)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803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20.5 km² — Degraded areas near Borivali &amp; Dahisar gates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520440"/>
            <a:ext cx="164592" cy="777240"/>
          </a:xfrm>
          <a:prstGeom prst="rect">
            <a:avLst/>
          </a:prstGeom>
          <a:solidFill>
            <a:srgbClr val="E6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353872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Moderate (28.1%)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8404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29.2 km² — Mixed forest-urban transition zones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4480560"/>
            <a:ext cx="164592" cy="777240"/>
          </a:xfrm>
          <a:prstGeom prst="rect">
            <a:avLst/>
          </a:prstGeom>
          <a:solidFill>
            <a:srgbClr val="A6D9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49884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Low (24.5%)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48006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25.4 km² — Dense core forest with low ignition probability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5440680"/>
            <a:ext cx="164592" cy="777240"/>
          </a:xfrm>
          <a:prstGeom prst="rect">
            <a:avLst/>
          </a:prstGeom>
          <a:solidFill>
            <a:srgbClr val="1A9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5458968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Very Low (18.2%)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57607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18.9 km² — Core forest &amp; water bodies</a:t>
            </a:r>
          </a:p>
        </p:txBody>
      </p:sp>
      <p:pic>
        <p:nvPicPr>
          <p:cNvPr id="23" name="Picture 22" descr="chart_01_factor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669280"/>
            <a:ext cx="6309360" cy="100584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D719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5149"/>
                </a:solidFill>
              </a:rPr>
              <a:t>FINDINGS — MAP 3 &amp; MAP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Risk Exposure &amp; Evacuation Accessibility</a:t>
            </a:r>
          </a:p>
        </p:txBody>
      </p:sp>
      <p:pic>
        <p:nvPicPr>
          <p:cNvPr id="6" name="Picture 5" descr="map_03_wildfire_risk_exp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5852160" cy="5303520"/>
          </a:xfrm>
          <a:prstGeom prst="rect">
            <a:avLst/>
          </a:prstGeom>
        </p:spPr>
      </p:pic>
      <p:pic>
        <p:nvPicPr>
          <p:cNvPr id="7" name="Picture 6" descr="map_04_evacuation_acces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85216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64008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6D43"/>
                </a:solidFill>
              </a:rPr>
              <a:t>Map 3: Risk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64008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DE725"/>
                </a:solidFill>
              </a:rPr>
              <a:t>Map 4: Evacuation Accessibility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FB950"/>
                </a:solidFill>
              </a:rPr>
              <a:t>RESULTS, DISCUSSION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Conclusion &amp; Actionable Mitigation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Key Statistical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50292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733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</a:rPr>
              <a:t>29.2 km²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of SGNP under High/Very High wildfire susceptibility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743200"/>
            <a:ext cx="50292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70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</a:rPr>
              <a:t>17.4 km²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546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of human settlements exposed to high risk fire zones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840480"/>
            <a:ext cx="50292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867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</a:rPr>
              <a:t>5 Hotspots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identified at critical urban-forest interface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937759"/>
            <a:ext cx="5029200" cy="9601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651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8A6FF"/>
                </a:solidFill>
              </a:rPr>
              <a:t>3 Safe Zones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mapped for emergency assembly during evacuation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1887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</a:rPr>
              <a:t>Mitigation Recommendations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1645920"/>
            <a:ext cx="62179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67335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16733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Buffer Zones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659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Physical firebreaks along highest-risk urban-forest interfaces before dry season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2606040"/>
            <a:ext cx="62179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0" y="263347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6334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Fuel 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926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Controlled removal of dry brush in Very High susceptibility zones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0" y="3566160"/>
            <a:ext cx="62179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359359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59359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Access Control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862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Restrict human access to high-risk zones during Nov–May dry months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4526280"/>
            <a:ext cx="62179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0" y="455371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5537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Surveillance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4632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Deploy thermal cameras/drone monitoring at peripheral hotspots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5486400"/>
            <a:ext cx="6217920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55138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5138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Pre-positioning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8064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Fire brigade assets pre-positioned based on evacuation priority maps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" y="6492240"/>
            <a:ext cx="12134088" cy="73152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