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47472"/>
            <a:ext cx="4251960" cy="3474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4050792" cy="32918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5E17EB"/>
                </a:solidFill>
                <a:latin typeface="Arial"/>
              </a:defRPr>
            </a:pPr>
            <a:r>
              <a:t>DISASTER MANAGEMENT &amp;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411480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68636A"/>
                </a:solidFill>
                <a:latin typeface="Arial"/>
              </a:defRPr>
            </a:pPr>
            <a:r>
              <a:t>OCTOBER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15568"/>
            <a:ext cx="91440" cy="4434840"/>
          </a:xfrm>
          <a:prstGeom prst="rect">
            <a:avLst/>
          </a:prstGeom>
          <a:solidFill>
            <a:srgbClr val="5E1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078992"/>
            <a:ext cx="5074920" cy="1481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50" b="1" i="0">
                <a:solidFill>
                  <a:srgbClr val="5E17EB"/>
                </a:solidFill>
                <a:latin typeface="Arial"/>
              </a:defRPr>
            </a:pPr>
            <a:r>
              <a:t>WILDFIRE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750" b="1" i="0">
                <a:solidFill>
                  <a:srgbClr val="5E17EB"/>
                </a:solidFill>
                <a:latin typeface="Arial"/>
              </a:defRPr>
            </a:pPr>
            <a:r>
              <a:t>SUSCEPTIBILITY MAPPING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97480"/>
            <a:ext cx="47548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 i="0">
                <a:solidFill>
                  <a:srgbClr val="010101"/>
                </a:solidFill>
                <a:latin typeface="Arial"/>
              </a:defRPr>
            </a:pPr>
            <a:r>
              <a:t>Disaster Risk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46120"/>
            <a:ext cx="470916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68636A"/>
                </a:solidFill>
                <a:latin typeface="Arial"/>
              </a:defRPr>
            </a:pPr>
            <a:r>
              <a:t>Sanjay Gandhi National Park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68636A"/>
                </a:solidFill>
                <a:latin typeface="Arial"/>
              </a:defRPr>
            </a:pPr>
            <a:r>
              <a:t>Mumbai, Maharashtra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" y="4114800"/>
            <a:ext cx="4846320" cy="20116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4279392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5E17EB"/>
                </a:solidFill>
                <a:latin typeface="Arial"/>
              </a:defRPr>
            </a:pPr>
            <a:r>
              <a:t>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84831" y="4279392"/>
            <a:ext cx="321868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60" b="1" i="0">
                <a:solidFill>
                  <a:srgbClr val="242126"/>
                </a:solidFill>
                <a:latin typeface="Arial"/>
              </a:defRPr>
            </a:pPr>
            <a:r>
              <a:t>FireWatch Analysts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672583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5E17EB"/>
                </a:solidFill>
                <a:latin typeface="Arial"/>
              </a:defRPr>
            </a:pPr>
            <a:r>
              <a:t>STUDY AREA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84831" y="4672583"/>
            <a:ext cx="321868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60" b="1" i="0">
                <a:solidFill>
                  <a:srgbClr val="242126"/>
                </a:solidFill>
                <a:latin typeface="Arial"/>
              </a:defRPr>
            </a:pPr>
            <a:r>
              <a:t>SGNP, Mumbai (104 km²)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5065776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5E17EB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84831" y="5065776"/>
            <a:ext cx="321868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60" b="1" i="0">
                <a:solidFill>
                  <a:srgbClr val="242126"/>
                </a:solidFill>
                <a:latin typeface="Arial"/>
              </a:defRPr>
            </a:pPr>
            <a:r>
              <a:t>GIS + Multi-Criteria AHP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5458968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5E17EB"/>
                </a:solidFill>
                <a:latin typeface="Arial"/>
              </a:defRPr>
            </a:pPr>
            <a:r>
              <a:t>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84831" y="5458968"/>
            <a:ext cx="321868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60" b="1" i="0">
                <a:solidFill>
                  <a:srgbClr val="242126"/>
                </a:solidFill>
                <a:latin typeface="Arial"/>
              </a:defRPr>
            </a:pPr>
            <a:r>
              <a:t>ArcGIS Pro / Python GIS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61888" y="1005840"/>
            <a:ext cx="5760720" cy="49834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tudy_area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7607" y="1051560"/>
            <a:ext cx="5669280" cy="48920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126480" y="6126480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10" b="0" i="1">
                <a:solidFill>
                  <a:srgbClr val="68636A"/>
                </a:solidFill>
                <a:latin typeface="Arial"/>
              </a:defRPr>
            </a:pPr>
            <a:r>
              <a:t>A GIS + AHP framework for susceptibility, exposure and evacuation planning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" y="6601968"/>
            <a:ext cx="512064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80" b="1" i="0">
                <a:solidFill>
                  <a:srgbClr val="817A70"/>
                </a:solidFill>
                <a:latin typeface="Arial"/>
              </a:defRPr>
            </a:pPr>
            <a:r>
              <a:t>SGNP WILDFIRE RISK ANALYSIS  •  OCTOBER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583680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20" b="1" i="0">
                <a:solidFill>
                  <a:srgbClr val="5E17EB"/>
                </a:solidFill>
                <a:latin typeface="Arial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4048" y="201168"/>
            <a:ext cx="3749039" cy="31089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4632" y="210312"/>
            <a:ext cx="3547871" cy="29260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5E17EB"/>
                </a:solidFill>
                <a:latin typeface="Arial"/>
              </a:defRPr>
            </a:pPr>
            <a:r>
              <a:t>EXECUTIVE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12680" y="228600"/>
            <a:ext cx="1691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50" b="1" i="0">
                <a:solidFill>
                  <a:srgbClr val="68636A"/>
                </a:solidFill>
                <a:latin typeface="Arial"/>
              </a:defRPr>
            </a:pPr>
            <a:r>
              <a:t>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67512"/>
            <a:ext cx="112014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010101"/>
                </a:solidFill>
                <a:latin typeface="Arial"/>
              </a:defRPr>
            </a:pPr>
            <a:r>
              <a:t>The analysis connects terrain, vegetation and urban exposure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0996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0" b="0" i="0">
                <a:solidFill>
                  <a:srgbClr val="68636A"/>
                </a:solidFill>
                <a:latin typeface="Arial"/>
              </a:defRPr>
            </a:pPr>
            <a:r>
              <a:t>Source-reported headline findings from the SGNP wildfire presentation.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658368" cy="50292"/>
          </a:xfrm>
          <a:prstGeom prst="rect">
            <a:avLst/>
          </a:prstGeom>
          <a:solidFill>
            <a:srgbClr val="5E1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01968"/>
            <a:ext cx="512064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80" b="1" i="0">
                <a:solidFill>
                  <a:srgbClr val="817A70"/>
                </a:solidFill>
                <a:latin typeface="Arial"/>
              </a:defRPr>
            </a:pPr>
            <a:r>
              <a:t>SGNP WILDFIRE RISK ANALYSIS  •  OCTOBER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83680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20" b="1" i="0">
                <a:solidFill>
                  <a:srgbClr val="5E17EB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1865376"/>
            <a:ext cx="2606040" cy="123444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0352" y="1865376"/>
            <a:ext cx="2606040" cy="50292"/>
          </a:xfrm>
          <a:prstGeom prst="rect">
            <a:avLst/>
          </a:prstGeom>
          <a:solidFill>
            <a:srgbClr val="5E1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20824"/>
            <a:ext cx="2386584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5E17EB"/>
                </a:solidFill>
                <a:latin typeface="Arial"/>
              </a:defRPr>
            </a:pPr>
            <a:r>
              <a:t>104 km²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459736"/>
            <a:ext cx="2386584" cy="5486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80" b="0" i="0">
                <a:solidFill>
                  <a:srgbClr val="242126"/>
                </a:solidFill>
                <a:latin typeface="Arial"/>
              </a:defRPr>
            </a:pPr>
            <a:r>
              <a:t>Study area (reported)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0128" y="1865376"/>
            <a:ext cx="2606040" cy="123444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10128" y="1865376"/>
            <a:ext cx="2606040" cy="50292"/>
          </a:xfrm>
          <a:prstGeom prst="rect">
            <a:avLst/>
          </a:prstGeom>
          <a:solidFill>
            <a:srgbClr val="ED7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19856" y="2020824"/>
            <a:ext cx="2386584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ED7843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9856" y="2459736"/>
            <a:ext cx="2386584" cy="5486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80" b="0" i="0">
                <a:solidFill>
                  <a:srgbClr val="242126"/>
                </a:solidFill>
                <a:latin typeface="Arial"/>
              </a:defRPr>
            </a:pPr>
            <a:r>
              <a:t>Conditioning factors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9904" y="1865376"/>
            <a:ext cx="2606040" cy="123444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89904" y="1865376"/>
            <a:ext cx="2606040" cy="50292"/>
          </a:xfrm>
          <a:prstGeom prst="rect">
            <a:avLst/>
          </a:prstGeom>
          <a:solidFill>
            <a:srgbClr val="00B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9632" y="2020824"/>
            <a:ext cx="2386584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00BF63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9632" y="2459736"/>
            <a:ext cx="2386584" cy="5486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80" b="0" i="0">
                <a:solidFill>
                  <a:srgbClr val="242126"/>
                </a:solidFill>
                <a:latin typeface="Arial"/>
              </a:defRPr>
            </a:pPr>
            <a:r>
              <a:t>Susceptibility classes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69680" y="1865376"/>
            <a:ext cx="2606040" cy="123444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69680" y="1865376"/>
            <a:ext cx="2606040" cy="50292"/>
          </a:xfrm>
          <a:prstGeom prst="rect">
            <a:avLst/>
          </a:prstGeom>
          <a:solidFill>
            <a:srgbClr val="5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79407" y="2020824"/>
            <a:ext cx="2386584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5CE1E6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79407" y="2459736"/>
            <a:ext cx="2386584" cy="5486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80" b="0" i="0">
                <a:solidFill>
                  <a:srgbClr val="242126"/>
                </a:solidFill>
                <a:latin typeface="Arial"/>
              </a:defRPr>
            </a:pPr>
            <a:r>
              <a:t>Mapped safe zones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0352" y="3364992"/>
            <a:ext cx="4800600" cy="26974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study_area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3410712"/>
            <a:ext cx="4709160" cy="260604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5596128" y="3364992"/>
            <a:ext cx="5879592" cy="1161288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596128" y="3364992"/>
            <a:ext cx="64008" cy="1161288"/>
          </a:xfrm>
          <a:prstGeom prst="rect">
            <a:avLst/>
          </a:prstGeom>
          <a:solidFill>
            <a:srgbClr val="5E1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79008" y="3483864"/>
            <a:ext cx="556869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5E17EB"/>
                </a:solidFill>
                <a:latin typeface="Arial"/>
              </a:defRPr>
            </a:pPr>
            <a:r>
              <a:t>What the framework does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79008" y="3822191"/>
            <a:ext cx="5550407" cy="6126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242126"/>
                </a:solidFill>
                <a:latin typeface="Arial"/>
              </a:defRPr>
            </a:pPr>
            <a:r>
              <a:t>Combines GIS layers through multi-criteria AHP, classifies wildfire susceptibility, overlays human and infrastructure exposure, then assesses evacuation accessibility.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596128" y="4681728"/>
            <a:ext cx="2825496" cy="137160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96128" y="4681728"/>
            <a:ext cx="64008" cy="1371600"/>
          </a:xfrm>
          <a:prstGeom prst="rect">
            <a:avLst/>
          </a:prstGeom>
          <a:solidFill>
            <a:srgbClr val="ED7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79008" y="4800600"/>
            <a:ext cx="2514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 i="0">
                <a:solidFill>
                  <a:srgbClr val="ED7843"/>
                </a:solidFill>
                <a:latin typeface="Arial"/>
              </a:defRPr>
            </a:pPr>
            <a:r>
              <a:t>Reported exposure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79008" y="5138928"/>
            <a:ext cx="2496312" cy="82296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242126"/>
                </a:solidFill>
                <a:latin typeface="Arial"/>
              </a:defRPr>
            </a:pPr>
            <a:r>
              <a:t>17.4 km² of human settlements are reported as exposed to high-risk fire zones.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59368" y="4681728"/>
            <a:ext cx="2816352" cy="137160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659368" y="4681728"/>
            <a:ext cx="64008" cy="1371600"/>
          </a:xfrm>
          <a:prstGeom prst="rect">
            <a:avLst/>
          </a:prstGeom>
          <a:solidFill>
            <a:srgbClr val="FF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42248" y="4800600"/>
            <a:ext cx="250545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 i="0">
                <a:solidFill>
                  <a:srgbClr val="FF5757"/>
                </a:solidFill>
                <a:latin typeface="Arial"/>
              </a:defRPr>
            </a:pPr>
            <a:r>
              <a:t>Priority signal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42248" y="5138928"/>
            <a:ext cx="2487168" cy="82296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242126"/>
                </a:solidFill>
                <a:latin typeface="Arial"/>
              </a:defRPr>
            </a:pPr>
            <a:r>
              <a:t>The deck reports five hotspots at critical urban–forest interface gates; two are specifically labelled on the susceptibility map.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4048" y="201168"/>
            <a:ext cx="3749039" cy="31089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4632" y="210312"/>
            <a:ext cx="3547871" cy="29260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5E17EB"/>
                </a:solidFill>
                <a:latin typeface="Arial"/>
              </a:defRPr>
            </a:pPr>
            <a:r>
              <a:t>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12680" y="228600"/>
            <a:ext cx="1691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50" b="1" i="0">
                <a:solidFill>
                  <a:srgbClr val="68636A"/>
                </a:solidFill>
                <a:latin typeface="Arial"/>
              </a:defRPr>
            </a:pPr>
            <a:r>
              <a:t>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67512"/>
            <a:ext cx="112014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010101"/>
                </a:solidFill>
                <a:latin typeface="Arial"/>
              </a:defRPr>
            </a:pPr>
            <a:r>
              <a:t>A high-value forest sits at a high-pressure urban 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0996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0" b="0" i="0">
                <a:solidFill>
                  <a:srgbClr val="68636A"/>
                </a:solidFill>
                <a:latin typeface="Arial"/>
              </a:defRPr>
            </a:pPr>
            <a:r>
              <a:t>Background and problem statement as provided in the source deck.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658368" cy="50292"/>
          </a:xfrm>
          <a:prstGeom prst="rect">
            <a:avLst/>
          </a:prstGeom>
          <a:solidFill>
            <a:srgbClr val="5E1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01968"/>
            <a:ext cx="512064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80" b="1" i="0">
                <a:solidFill>
                  <a:srgbClr val="817A70"/>
                </a:solidFill>
                <a:latin typeface="Arial"/>
              </a:defRPr>
            </a:pPr>
            <a:r>
              <a:t>SGNP WILDFIRE RISK ANALYSIS  •  OCTOBER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83680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20" b="1" i="0">
                <a:solidFill>
                  <a:srgbClr val="5E17EB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65376"/>
            <a:ext cx="6720840" cy="658368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865376"/>
            <a:ext cx="64008" cy="658368"/>
          </a:xfrm>
          <a:prstGeom prst="rect">
            <a:avLst/>
          </a:prstGeom>
          <a:solidFill>
            <a:srgbClr val="5E1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984248"/>
            <a:ext cx="640994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9" b="1" i="0">
                <a:solidFill>
                  <a:srgbClr val="5E17EB"/>
                </a:solidFill>
                <a:latin typeface="Arial"/>
              </a:defRPr>
            </a:pPr>
            <a:r>
              <a:t>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322576"/>
            <a:ext cx="6391655" cy="109727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40" b="0" i="0">
                <a:solidFill>
                  <a:srgbClr val="242126"/>
                </a:solidFill>
                <a:latin typeface="Arial"/>
              </a:defRPr>
            </a:pPr>
            <a:r>
              <a:t>SGNP spans 104 km² in northern Mumbai and is described in the source as the world’s largest urban national park.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670048"/>
            <a:ext cx="6720840" cy="658368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670048"/>
            <a:ext cx="64008" cy="658368"/>
          </a:xfrm>
          <a:prstGeom prst="rect">
            <a:avLst/>
          </a:prstGeom>
          <a:solidFill>
            <a:srgbClr val="ED7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788920"/>
            <a:ext cx="640994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9" b="1" i="0">
                <a:solidFill>
                  <a:srgbClr val="ED7843"/>
                </a:solidFill>
                <a:latin typeface="Arial"/>
              </a:defRPr>
            </a:pPr>
            <a:r>
              <a:t>Urban–forest interface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127248"/>
            <a:ext cx="6391655" cy="109727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40" b="0" i="0">
                <a:solidFill>
                  <a:srgbClr val="242126"/>
                </a:solidFill>
                <a:latin typeface="Arial"/>
              </a:defRPr>
            </a:pPr>
            <a:r>
              <a:t>The park is surrounded by 20+ million residents, creating a critical urban–forest interface (UFI).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474720"/>
            <a:ext cx="6720840" cy="658368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474720"/>
            <a:ext cx="64008" cy="658368"/>
          </a:xfrm>
          <a:prstGeom prst="rect">
            <a:avLst/>
          </a:prstGeom>
          <a:solidFill>
            <a:srgbClr val="FF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593591"/>
            <a:ext cx="640994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9" b="1" i="0">
                <a:solidFill>
                  <a:srgbClr val="FF5757"/>
                </a:solidFill>
                <a:latin typeface="Arial"/>
              </a:defRPr>
            </a:pPr>
            <a:r>
              <a:t>Seasonality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931920"/>
            <a:ext cx="6391655" cy="109727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40" b="0" i="0">
                <a:solidFill>
                  <a:srgbClr val="242126"/>
                </a:solidFill>
                <a:latin typeface="Arial"/>
              </a:defRPr>
            </a:pPr>
            <a:r>
              <a:t>The dry season (November–May) raises fuel-load concerns; recurring brush fires threaten ecology and human settlements.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279392"/>
            <a:ext cx="6720840" cy="658368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279392"/>
            <a:ext cx="64008" cy="658368"/>
          </a:xfrm>
          <a:prstGeom prst="rect">
            <a:avLst/>
          </a:prstGeom>
          <a:solidFill>
            <a:srgbClr val="00B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398264"/>
            <a:ext cx="640994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9" b="1" i="0">
                <a:solidFill>
                  <a:srgbClr val="00BF63"/>
                </a:solidFill>
                <a:latin typeface="Arial"/>
              </a:defRPr>
            </a:pPr>
            <a:r>
              <a:t>Planning gap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736592"/>
            <a:ext cx="6391655" cy="109727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40" b="0" i="0">
                <a:solidFill>
                  <a:srgbClr val="242126"/>
                </a:solidFill>
                <a:latin typeface="Arial"/>
              </a:defRPr>
            </a:pPr>
            <a:r>
              <a:t>The source identifies a lack of a systematic spatial wildfire-risk map for emergency response planning.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084064"/>
            <a:ext cx="6720840" cy="658368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5084064"/>
            <a:ext cx="64008" cy="658368"/>
          </a:xfrm>
          <a:prstGeom prst="rect">
            <a:avLst/>
          </a:prstGeom>
          <a:solidFill>
            <a:srgbClr val="5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202936"/>
            <a:ext cx="640994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9" b="1" i="0">
                <a:solidFill>
                  <a:srgbClr val="5CE1E6"/>
                </a:solidFill>
                <a:latin typeface="Arial"/>
              </a:defRPr>
            </a:pPr>
            <a:r>
              <a:t>Study response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541264"/>
            <a:ext cx="6391655" cy="109727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40" b="0" i="0">
                <a:solidFill>
                  <a:srgbClr val="242126"/>
                </a:solidFill>
                <a:latin typeface="Arial"/>
              </a:defRPr>
            </a:pPr>
            <a:r>
              <a:t>The project applies GIS + Multi-Criteria Decision Analysis (MCDA) to create a spatial fire-risk framework.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43800" y="1865376"/>
            <a:ext cx="4096512" cy="4389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study_area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911095"/>
            <a:ext cx="4005072" cy="429768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662672" y="6281928"/>
            <a:ext cx="3840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70" b="0" i="1">
                <a:solidFill>
                  <a:srgbClr val="68636A"/>
                </a:solidFill>
                <a:latin typeface="Arial"/>
              </a:defRPr>
            </a:pPr>
            <a:r>
              <a:t>Study-area map plate highlights the park boundary, lakes, arterial roads, gates, ridges and surrounding urban municipalities.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4048" y="201168"/>
            <a:ext cx="3749039" cy="31089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4632" y="210312"/>
            <a:ext cx="3547871" cy="29260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5E17EB"/>
                </a:solidFill>
                <a:latin typeface="Arial"/>
              </a:defRPr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12680" y="228600"/>
            <a:ext cx="1691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50" b="1" i="0">
                <a:solidFill>
                  <a:srgbClr val="68636A"/>
                </a:solidFill>
                <a:latin typeface="Arial"/>
              </a:defRPr>
            </a:pPr>
            <a:r>
              <a:t>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67512"/>
            <a:ext cx="112014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010101"/>
                </a:solidFill>
                <a:latin typeface="Arial"/>
              </a:defRPr>
            </a:pPr>
            <a:r>
              <a:t>Six objectives frame the analysis from susceptibility to response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0996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0" b="0" i="0">
                <a:solidFill>
                  <a:srgbClr val="68636A"/>
                </a:solidFill>
                <a:latin typeface="Arial"/>
              </a:defRPr>
            </a:pPr>
            <a:r>
              <a:t>Objectives reproduced from the source presentation.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658368" cy="50292"/>
          </a:xfrm>
          <a:prstGeom prst="rect">
            <a:avLst/>
          </a:prstGeom>
          <a:solidFill>
            <a:srgbClr val="5E1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01968"/>
            <a:ext cx="512064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80" b="1" i="0">
                <a:solidFill>
                  <a:srgbClr val="817A70"/>
                </a:solidFill>
                <a:latin typeface="Arial"/>
              </a:defRPr>
            </a:pPr>
            <a:r>
              <a:t>SGNP WILDFIRE RISK ANALYSIS  •  OCTOBER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83680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20" b="1" i="0">
                <a:solidFill>
                  <a:srgbClr val="5E17EB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874519"/>
            <a:ext cx="3337560" cy="16916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2039112"/>
            <a:ext cx="475488" cy="475488"/>
          </a:xfrm>
          <a:prstGeom prst="ellipse">
            <a:avLst/>
          </a:prstGeom>
          <a:solidFill>
            <a:srgbClr val="5E1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" y="2057400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05740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5E17EB"/>
                </a:solidFill>
                <a:latin typeface="Arial"/>
              </a:defRPr>
            </a:pPr>
            <a:r>
              <a:t>Identify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660903"/>
            <a:ext cx="2944368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60" b="0" i="0">
                <a:solidFill>
                  <a:srgbClr val="242126"/>
                </a:solidFill>
                <a:latin typeface="Arial"/>
              </a:defRPr>
            </a:pPr>
            <a:r>
              <a:t>Major environmental and human factors driving wildfire susceptibility in SGNP.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42232" y="1874519"/>
            <a:ext cx="3337560" cy="16916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306824" y="2039112"/>
            <a:ext cx="475488" cy="475488"/>
          </a:xfrm>
          <a:prstGeom prst="ellipse">
            <a:avLst/>
          </a:prstGeom>
          <a:solidFill>
            <a:srgbClr val="ED7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15968" y="2057400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01184" y="205740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ED7843"/>
                </a:solidFill>
                <a:latin typeface="Arial"/>
              </a:defRPr>
            </a:pPr>
            <a:r>
              <a:t>Develop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5112" y="2660903"/>
            <a:ext cx="2944368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60" b="0" i="0">
                <a:solidFill>
                  <a:srgbClr val="242126"/>
                </a:solidFill>
                <a:latin typeface="Arial"/>
              </a:defRPr>
            </a:pPr>
            <a:r>
              <a:t>A GIS-based Wildfire Susceptibility Zonation framework using five conditioning factors.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17536" y="1874519"/>
            <a:ext cx="3337560" cy="16916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882127" y="2039112"/>
            <a:ext cx="475488" cy="475488"/>
          </a:xfrm>
          <a:prstGeom prst="ellipse">
            <a:avLst/>
          </a:prstGeom>
          <a:solidFill>
            <a:srgbClr val="FF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91271" y="2057400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76488" y="205740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F5757"/>
                </a:solidFill>
                <a:latin typeface="Arial"/>
              </a:defRPr>
            </a:pPr>
            <a:r>
              <a:t>Map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0415" y="2660903"/>
            <a:ext cx="2944368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60" b="0" i="0">
                <a:solidFill>
                  <a:srgbClr val="242126"/>
                </a:solidFill>
                <a:latin typeface="Arial"/>
              </a:defRPr>
            </a:pPr>
            <a:r>
              <a:t>Exposure and risk hotspots where high susceptibility intersects human settlements.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005072"/>
            <a:ext cx="3337560" cy="16916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1520" y="4169663"/>
            <a:ext cx="475488" cy="475488"/>
          </a:xfrm>
          <a:prstGeom prst="ellipse">
            <a:avLst/>
          </a:prstGeom>
          <a:solidFill>
            <a:srgbClr val="00B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" y="4187952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4187952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00BF63"/>
                </a:solidFill>
                <a:latin typeface="Arial"/>
              </a:defRPr>
            </a:pPr>
            <a:r>
              <a:t>Assess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4791456"/>
            <a:ext cx="2944368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60" b="0" i="0">
                <a:solidFill>
                  <a:srgbClr val="242126"/>
                </a:solidFill>
                <a:latin typeface="Arial"/>
              </a:defRPr>
            </a:pPr>
            <a:r>
              <a:t>Emergency evacuation accessibility and priority zones for response planning.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42232" y="4005072"/>
            <a:ext cx="3337560" cy="16916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306824" y="4169663"/>
            <a:ext cx="475488" cy="475488"/>
          </a:xfrm>
          <a:prstGeom prst="ellipse">
            <a:avLst/>
          </a:prstGeom>
          <a:solidFill>
            <a:srgbClr val="5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15968" y="4187952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01184" y="4187952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5CE1E6"/>
                </a:solidFill>
                <a:latin typeface="Arial"/>
              </a:defRPr>
            </a:pPr>
            <a:r>
              <a:t>Recommend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25112" y="4791456"/>
            <a:ext cx="2944368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60" b="0" i="0">
                <a:solidFill>
                  <a:srgbClr val="242126"/>
                </a:solidFill>
                <a:latin typeface="Arial"/>
              </a:defRPr>
            </a:pPr>
            <a:r>
              <a:t>Actionable disaster-mitigation and preparedness actions for fire management.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17536" y="4005072"/>
            <a:ext cx="3337560" cy="16916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882127" y="4169663"/>
            <a:ext cx="475488" cy="475488"/>
          </a:xfrm>
          <a:prstGeom prst="ellipse">
            <a:avLst/>
          </a:prstGeom>
          <a:solidFill>
            <a:srgbClr val="FF6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91271" y="4187952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76488" y="4187952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F66C4"/>
                </a:solidFill>
                <a:latin typeface="Arial"/>
              </a:defRPr>
            </a:pPr>
            <a:r>
              <a:t>Demonstrate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00415" y="4791456"/>
            <a:ext cx="2944368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60" b="0" i="0">
                <a:solidFill>
                  <a:srgbClr val="242126"/>
                </a:solidFill>
                <a:latin typeface="Arial"/>
              </a:defRPr>
            </a:pPr>
            <a:r>
              <a:t>How spatial analysis can support wildfire disaster-management decisions.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4048" y="201168"/>
            <a:ext cx="3749039" cy="31089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4632" y="210312"/>
            <a:ext cx="3547871" cy="29260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5E17EB"/>
                </a:solidFill>
                <a:latin typeface="Arial"/>
              </a:defRPr>
            </a:pPr>
            <a:r>
              <a:t>STUDY AREA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12680" y="228600"/>
            <a:ext cx="1691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50" b="1" i="0">
                <a:solidFill>
                  <a:srgbClr val="68636A"/>
                </a:solidFill>
                <a:latin typeface="Arial"/>
              </a:defRPr>
            </a:pPr>
            <a:r>
              <a:t>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67512"/>
            <a:ext cx="112014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010101"/>
                </a:solidFill>
                <a:latin typeface="Arial"/>
              </a:defRPr>
            </a:pPr>
            <a:r>
              <a:t>SGNP’s topography meets a dense municipal 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0996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0" b="0" i="0">
                <a:solidFill>
                  <a:srgbClr val="68636A"/>
                </a:solidFill>
                <a:latin typeface="Arial"/>
              </a:defRPr>
            </a:pPr>
            <a:r>
              <a:t>Geographic profile values shown in the source text and map plate.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658368" cy="50292"/>
          </a:xfrm>
          <a:prstGeom prst="rect">
            <a:avLst/>
          </a:prstGeom>
          <a:solidFill>
            <a:srgbClr val="5E1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01968"/>
            <a:ext cx="512064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80" b="1" i="0">
                <a:solidFill>
                  <a:srgbClr val="817A70"/>
                </a:solidFill>
                <a:latin typeface="Arial"/>
              </a:defRPr>
            </a:pPr>
            <a:r>
              <a:t>SGNP WILDFIRE RISK ANALYSIS  •  OCTOBER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83680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20" b="1" i="0">
                <a:solidFill>
                  <a:srgbClr val="5E17EB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92040" y="1847088"/>
            <a:ext cx="6766560" cy="455371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tudy_area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59" y="1892807"/>
            <a:ext cx="6675120" cy="446227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66928" y="1901952"/>
            <a:ext cx="1892807" cy="786384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002536"/>
            <a:ext cx="164592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1" i="0">
                <a:solidFill>
                  <a:srgbClr val="5E17EB"/>
                </a:solidFill>
                <a:latin typeface="Arial"/>
              </a:defRPr>
            </a:pPr>
            <a:r>
              <a:t>AREA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2240280"/>
            <a:ext cx="16642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242126"/>
                </a:solidFill>
                <a:latin typeface="Arial"/>
              </a:defRPr>
            </a:pPr>
            <a:r>
              <a:t>104 km²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24328" y="1901952"/>
            <a:ext cx="1892807" cy="786384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34056" y="2002536"/>
            <a:ext cx="164592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1" i="0">
                <a:solidFill>
                  <a:srgbClr val="ED7843"/>
                </a:solidFill>
                <a:latin typeface="Arial"/>
              </a:defRPr>
            </a:pPr>
            <a:r>
              <a:t>LOCATION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34056" y="2240280"/>
            <a:ext cx="16642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242126"/>
                </a:solidFill>
                <a:latin typeface="Arial"/>
              </a:defRPr>
            </a:pPr>
            <a:r>
              <a:t>19.22°N, 72.91°E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2834640"/>
            <a:ext cx="1892807" cy="786384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935224"/>
            <a:ext cx="164592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1" i="0">
                <a:solidFill>
                  <a:srgbClr val="00BF63"/>
                </a:solidFill>
                <a:latin typeface="Arial"/>
              </a:defRPr>
            </a:pPr>
            <a:r>
              <a:t>ADMIN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" y="3172968"/>
            <a:ext cx="16642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242126"/>
                </a:solidFill>
                <a:latin typeface="Arial"/>
              </a:defRPr>
            </a:pPr>
            <a:r>
              <a:t>Mumbai, Maharashtra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24328" y="2834640"/>
            <a:ext cx="1892807" cy="786384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34056" y="2935224"/>
            <a:ext cx="164592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1" i="0">
                <a:solidFill>
                  <a:srgbClr val="5CE1E6"/>
                </a:solidFill>
                <a:latin typeface="Arial"/>
              </a:defRPr>
            </a:pPr>
            <a:r>
              <a:t>ELEVATION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34056" y="3172968"/>
            <a:ext cx="16642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242126"/>
                </a:solidFill>
                <a:latin typeface="Arial"/>
              </a:defRPr>
            </a:pPr>
            <a:r>
              <a:t>12–480 m ASL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767328"/>
            <a:ext cx="1892807" cy="786384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867912"/>
            <a:ext cx="164592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1" i="0">
                <a:solidFill>
                  <a:srgbClr val="FF66C4"/>
                </a:solidFill>
                <a:latin typeface="Arial"/>
              </a:defRPr>
            </a:pPr>
            <a:r>
              <a:t>FOREST TYPE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" y="4105656"/>
            <a:ext cx="16642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242126"/>
                </a:solidFill>
                <a:latin typeface="Arial"/>
              </a:defRPr>
            </a:pPr>
            <a:r>
              <a:t>Tropical deciduous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24328" y="3767328"/>
            <a:ext cx="1892807" cy="786384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34056" y="3867912"/>
            <a:ext cx="164592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1" i="0">
                <a:solidFill>
                  <a:srgbClr val="FF5757"/>
                </a:solidFill>
                <a:latin typeface="Arial"/>
              </a:defRPr>
            </a:pPr>
            <a:r>
              <a:t>DRY SEASON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34056" y="4105656"/>
            <a:ext cx="16642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242126"/>
                </a:solidFill>
                <a:latin typeface="Arial"/>
              </a:defRPr>
            </a:pPr>
            <a:r>
              <a:t>November–May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4818888"/>
            <a:ext cx="3950208" cy="1362456"/>
          </a:xfrm>
          <a:prstGeom prst="roundRect">
            <a:avLst/>
          </a:prstGeom>
          <a:solidFill>
            <a:srgbClr val="F0E9FF"/>
          </a:solidFill>
          <a:ln w="10160">
            <a:solidFill>
              <a:srgbClr val="DC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983480"/>
            <a:ext cx="3566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5E17EB"/>
                </a:solidFill>
                <a:latin typeface="Arial"/>
              </a:defRPr>
            </a:pPr>
            <a:r>
              <a:t>MAP-PLATE METADATA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5321808"/>
            <a:ext cx="3593592" cy="70408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 i="0">
                <a:solidFill>
                  <a:srgbClr val="242126"/>
                </a:solidFill>
                <a:latin typeface="Arial"/>
              </a:defRPr>
            </a:pPr>
            <a:r>
              <a:t>Boundary: 103.84 km²  •  Elevation: 15–468 m AMSL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850" b="0" i="0">
                <a:solidFill>
                  <a:srgbClr val="242126"/>
                </a:solidFill>
                <a:latin typeface="Arial"/>
              </a:defRPr>
            </a:pPr>
            <a:r>
              <a:t>Perimeter: 42.8 km  •  Surrounding population: &gt;15 million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850" b="0" i="0">
                <a:solidFill>
                  <a:srgbClr val="242126"/>
                </a:solidFill>
                <a:latin typeface="Arial"/>
              </a:defRPr>
            </a:pPr>
            <a:r>
              <a:t>Basemap: Esri World Topographic  •  CRS: WGS 1984 Web Mercator (EPSG:3857)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4048" y="201168"/>
            <a:ext cx="3749039" cy="31089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4632" y="210312"/>
            <a:ext cx="3547871" cy="29260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5E17EB"/>
                </a:solidFill>
                <a:latin typeface="Arial"/>
              </a:defRPr>
            </a:pPr>
            <a:r>
              <a:t>INPUTS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12680" y="228600"/>
            <a:ext cx="1691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50" b="1" i="0">
                <a:solidFill>
                  <a:srgbClr val="68636A"/>
                </a:solidFill>
                <a:latin typeface="Arial"/>
              </a:defRPr>
            </a:pPr>
            <a:r>
              <a:t>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67512"/>
            <a:ext cx="112014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010101"/>
                </a:solidFill>
                <a:latin typeface="Arial"/>
              </a:defRPr>
            </a:pPr>
            <a:r>
              <a:t>Five spatial layers supply the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0996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0" b="0" i="0">
                <a:solidFill>
                  <a:srgbClr val="68636A"/>
                </a:solidFill>
                <a:latin typeface="Arial"/>
              </a:defRPr>
            </a:pPr>
            <a:r>
              <a:t>Source inventory: layer, geometry/resolution and provider.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658368" cy="50292"/>
          </a:xfrm>
          <a:prstGeom prst="rect">
            <a:avLst/>
          </a:prstGeom>
          <a:solidFill>
            <a:srgbClr val="5E1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01968"/>
            <a:ext cx="512064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80" b="1" i="0">
                <a:solidFill>
                  <a:srgbClr val="817A70"/>
                </a:solidFill>
                <a:latin typeface="Arial"/>
              </a:defRPr>
            </a:pPr>
            <a:r>
              <a:t>SGNP WILDFIRE RISK ANALYSIS  •  OCTOBER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83680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20" b="1" i="0">
                <a:solidFill>
                  <a:srgbClr val="5E17EB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920240"/>
            <a:ext cx="2011680" cy="475488"/>
          </a:xfrm>
          <a:prstGeom prst="roundRect">
            <a:avLst/>
          </a:prstGeom>
          <a:solidFill>
            <a:srgbClr val="5E1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1975104"/>
            <a:ext cx="180136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30" b="1" i="0">
                <a:solidFill>
                  <a:srgbClr val="FFFFFF"/>
                </a:solidFill>
                <a:latin typeface="Arial"/>
              </a:defRPr>
            </a:pPr>
            <a:r>
              <a:t>DATA LAYER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24328" y="1920240"/>
            <a:ext cx="2377440" cy="475488"/>
          </a:xfrm>
          <a:prstGeom prst="roundRect">
            <a:avLst/>
          </a:prstGeom>
          <a:solidFill>
            <a:srgbClr val="5E1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34056" y="1975104"/>
            <a:ext cx="216712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30" b="1" i="0">
                <a:solidFill>
                  <a:srgbClr val="FFFFFF"/>
                </a:solidFill>
                <a:latin typeface="Arial"/>
              </a:defRPr>
            </a:pPr>
            <a:r>
              <a:t>TYPE / RESOLUTION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47488" y="1920240"/>
            <a:ext cx="2697480" cy="475488"/>
          </a:xfrm>
          <a:prstGeom prst="roundRect">
            <a:avLst/>
          </a:prstGeom>
          <a:solidFill>
            <a:srgbClr val="5E1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57216" y="1975104"/>
            <a:ext cx="248716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30" b="1" i="0">
                <a:solidFill>
                  <a:srgbClr val="FFFFFF"/>
                </a:solidFill>
                <a:latin typeface="Arial"/>
              </a:defRPr>
            </a:pPr>
            <a:r>
              <a:t>SOURCE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90688" y="1920240"/>
            <a:ext cx="3794760" cy="475488"/>
          </a:xfrm>
          <a:prstGeom prst="roundRect">
            <a:avLst/>
          </a:prstGeom>
          <a:solidFill>
            <a:srgbClr val="5E1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0415" y="1975104"/>
            <a:ext cx="358444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30" b="1" i="0">
                <a:solidFill>
                  <a:srgbClr val="FFFFFF"/>
                </a:solidFill>
                <a:latin typeface="Arial"/>
              </a:defRPr>
            </a:pPr>
            <a:r>
              <a:t>ROLE IN WORKFLOW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2487168"/>
            <a:ext cx="2011680" cy="557784"/>
          </a:xfrm>
          <a:prstGeom prst="roundRect">
            <a:avLst/>
          </a:prstGeom>
          <a:solidFill>
            <a:srgbClr val="FFFFFF"/>
          </a:solidFill>
          <a:ln w="571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551176"/>
            <a:ext cx="1801368" cy="42062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30" b="1" i="0">
                <a:solidFill>
                  <a:srgbClr val="5E17EB"/>
                </a:solidFill>
                <a:latin typeface="Arial"/>
              </a:defRPr>
            </a:pPr>
            <a:r>
              <a:t>DEM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24328" y="2487168"/>
            <a:ext cx="2377440" cy="557784"/>
          </a:xfrm>
          <a:prstGeom prst="roundRect">
            <a:avLst/>
          </a:prstGeom>
          <a:solidFill>
            <a:srgbClr val="FFFFFF"/>
          </a:solidFill>
          <a:ln w="571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34056" y="2551176"/>
            <a:ext cx="2167128" cy="42062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30" b="0" i="0">
                <a:solidFill>
                  <a:srgbClr val="242126"/>
                </a:solidFill>
                <a:latin typeface="Arial"/>
              </a:defRPr>
            </a:pPr>
            <a:r>
              <a:t>Raster · 30 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47488" y="2487168"/>
            <a:ext cx="2697480" cy="557784"/>
          </a:xfrm>
          <a:prstGeom prst="roundRect">
            <a:avLst/>
          </a:prstGeom>
          <a:solidFill>
            <a:srgbClr val="FFFFFF"/>
          </a:solidFill>
          <a:ln w="571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57216" y="2551176"/>
            <a:ext cx="2487168" cy="42062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30" b="0" i="0">
                <a:solidFill>
                  <a:srgbClr val="242126"/>
                </a:solidFill>
                <a:latin typeface="Arial"/>
              </a:defRPr>
            </a:pPr>
            <a:r>
              <a:t>SRTM / NASA EarthData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90688" y="2487168"/>
            <a:ext cx="3794760" cy="557784"/>
          </a:xfrm>
          <a:prstGeom prst="roundRect">
            <a:avLst/>
          </a:prstGeom>
          <a:solidFill>
            <a:srgbClr val="FFFFFF"/>
          </a:solidFill>
          <a:ln w="571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00415" y="2551176"/>
            <a:ext cx="3584448" cy="42062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30" b="0" i="0">
                <a:solidFill>
                  <a:srgbClr val="242126"/>
                </a:solidFill>
                <a:latin typeface="Arial"/>
              </a:defRPr>
            </a:pPr>
            <a:r>
              <a:t>Derive slope and elevation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145536"/>
            <a:ext cx="2011680" cy="557784"/>
          </a:xfrm>
          <a:prstGeom prst="roundRect">
            <a:avLst/>
          </a:prstGeom>
          <a:solidFill>
            <a:srgbClr val="FBF6ED"/>
          </a:solidFill>
          <a:ln w="571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3209544"/>
            <a:ext cx="1801368" cy="42062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30" b="1" i="0">
                <a:solidFill>
                  <a:srgbClr val="5E17EB"/>
                </a:solidFill>
                <a:latin typeface="Arial"/>
              </a:defRPr>
            </a:pPr>
            <a:r>
              <a:t>Road network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24328" y="3145536"/>
            <a:ext cx="2377440" cy="557784"/>
          </a:xfrm>
          <a:prstGeom prst="roundRect">
            <a:avLst/>
          </a:prstGeom>
          <a:solidFill>
            <a:srgbClr val="FBF6ED"/>
          </a:solidFill>
          <a:ln w="571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34056" y="3209544"/>
            <a:ext cx="2167128" cy="42062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30" b="0" i="0">
                <a:solidFill>
                  <a:srgbClr val="242126"/>
                </a:solidFill>
                <a:latin typeface="Arial"/>
              </a:defRPr>
            </a:pPr>
            <a:r>
              <a:t>Vector · lines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47488" y="3145536"/>
            <a:ext cx="2697480" cy="557784"/>
          </a:xfrm>
          <a:prstGeom prst="roundRect">
            <a:avLst/>
          </a:prstGeom>
          <a:solidFill>
            <a:srgbClr val="FBF6ED"/>
          </a:solidFill>
          <a:ln w="571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57216" y="3209544"/>
            <a:ext cx="2487168" cy="42062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30" b="0" i="0">
                <a:solidFill>
                  <a:srgbClr val="242126"/>
                </a:solidFill>
                <a:latin typeface="Arial"/>
              </a:defRPr>
            </a:pPr>
            <a:r>
              <a:t>OpenStreetMap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90688" y="3145536"/>
            <a:ext cx="3794760" cy="557784"/>
          </a:xfrm>
          <a:prstGeom prst="roundRect">
            <a:avLst/>
          </a:prstGeom>
          <a:solidFill>
            <a:srgbClr val="FBF6ED"/>
          </a:solidFill>
          <a:ln w="571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0415" y="3209544"/>
            <a:ext cx="3584448" cy="42062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30" b="0" i="0">
                <a:solidFill>
                  <a:srgbClr val="242126"/>
                </a:solidFill>
                <a:latin typeface="Arial"/>
              </a:defRPr>
            </a:pPr>
            <a:r>
              <a:t>Road proximity and access network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3803904"/>
            <a:ext cx="2011680" cy="557784"/>
          </a:xfrm>
          <a:prstGeom prst="roundRect">
            <a:avLst/>
          </a:prstGeom>
          <a:solidFill>
            <a:srgbClr val="FFFFFF"/>
          </a:solidFill>
          <a:ln w="571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" y="3867912"/>
            <a:ext cx="1801368" cy="42062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30" b="1" i="0">
                <a:solidFill>
                  <a:srgbClr val="5E17EB"/>
                </a:solidFill>
                <a:latin typeface="Arial"/>
              </a:defRPr>
            </a:pPr>
            <a:r>
              <a:t>Settlements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24328" y="3803904"/>
            <a:ext cx="2377440" cy="557784"/>
          </a:xfrm>
          <a:prstGeom prst="roundRect">
            <a:avLst/>
          </a:prstGeom>
          <a:solidFill>
            <a:srgbClr val="FFFFFF"/>
          </a:solidFill>
          <a:ln w="571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34056" y="3867912"/>
            <a:ext cx="2167128" cy="42062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30" b="0" i="0">
                <a:solidFill>
                  <a:srgbClr val="242126"/>
                </a:solidFill>
                <a:latin typeface="Arial"/>
              </a:defRPr>
            </a:pPr>
            <a:r>
              <a:t>Vector · points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47488" y="3803904"/>
            <a:ext cx="2697480" cy="557784"/>
          </a:xfrm>
          <a:prstGeom prst="roundRect">
            <a:avLst/>
          </a:prstGeom>
          <a:solidFill>
            <a:srgbClr val="FFFFFF"/>
          </a:solidFill>
          <a:ln w="571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57216" y="3867912"/>
            <a:ext cx="2487168" cy="42062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30" b="0" i="0">
                <a:solidFill>
                  <a:srgbClr val="242126"/>
                </a:solidFill>
                <a:latin typeface="Arial"/>
              </a:defRPr>
            </a:pPr>
            <a:r>
              <a:t>OSM / Census India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90688" y="3803904"/>
            <a:ext cx="3794760" cy="557784"/>
          </a:xfrm>
          <a:prstGeom prst="roundRect">
            <a:avLst/>
          </a:prstGeom>
          <a:solidFill>
            <a:srgbClr val="FFFFFF"/>
          </a:solidFill>
          <a:ln w="571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00415" y="3867912"/>
            <a:ext cx="3584448" cy="42062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30" b="0" i="0">
                <a:solidFill>
                  <a:srgbClr val="242126"/>
                </a:solidFill>
                <a:latin typeface="Arial"/>
              </a:defRPr>
            </a:pPr>
            <a:r>
              <a:t>Settlement proximity and exposure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66928" y="4462272"/>
            <a:ext cx="2011680" cy="557784"/>
          </a:xfrm>
          <a:prstGeom prst="roundRect">
            <a:avLst/>
          </a:prstGeom>
          <a:solidFill>
            <a:srgbClr val="FBF6ED"/>
          </a:solidFill>
          <a:ln w="571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526280"/>
            <a:ext cx="1801368" cy="42062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30" b="1" i="0">
                <a:solidFill>
                  <a:srgbClr val="5E17EB"/>
                </a:solidFill>
                <a:latin typeface="Arial"/>
              </a:defRPr>
            </a:pPr>
            <a:r>
              <a:t>NDVI / vegetation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624328" y="4462272"/>
            <a:ext cx="2377440" cy="557784"/>
          </a:xfrm>
          <a:prstGeom prst="roundRect">
            <a:avLst/>
          </a:prstGeom>
          <a:solidFill>
            <a:srgbClr val="FBF6ED"/>
          </a:solidFill>
          <a:ln w="571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34056" y="4526280"/>
            <a:ext cx="2167128" cy="42062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30" b="0" i="0">
                <a:solidFill>
                  <a:srgbClr val="242126"/>
                </a:solidFill>
                <a:latin typeface="Arial"/>
              </a:defRPr>
            </a:pPr>
            <a:r>
              <a:t>Raster · 250 m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47488" y="4462272"/>
            <a:ext cx="2697480" cy="557784"/>
          </a:xfrm>
          <a:prstGeom prst="roundRect">
            <a:avLst/>
          </a:prstGeom>
          <a:solidFill>
            <a:srgbClr val="FBF6ED"/>
          </a:solidFill>
          <a:ln w="571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57216" y="4526280"/>
            <a:ext cx="2487168" cy="42062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30" b="0" i="0">
                <a:solidFill>
                  <a:srgbClr val="242126"/>
                </a:solidFill>
                <a:latin typeface="Arial"/>
              </a:defRPr>
            </a:pPr>
            <a:r>
              <a:t>MODIS Terra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790688" y="4462272"/>
            <a:ext cx="3794760" cy="557784"/>
          </a:xfrm>
          <a:prstGeom prst="roundRect">
            <a:avLst/>
          </a:prstGeom>
          <a:solidFill>
            <a:srgbClr val="FBF6ED"/>
          </a:solidFill>
          <a:ln w="571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00415" y="4526280"/>
            <a:ext cx="3584448" cy="42062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30" b="0" i="0">
                <a:solidFill>
                  <a:srgbClr val="242126"/>
                </a:solidFill>
                <a:latin typeface="Arial"/>
              </a:defRPr>
            </a:pPr>
            <a:r>
              <a:t>Vegetation / fuel-condition proxy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66928" y="5120640"/>
            <a:ext cx="2011680" cy="557784"/>
          </a:xfrm>
          <a:prstGeom prst="roundRect">
            <a:avLst/>
          </a:prstGeom>
          <a:solidFill>
            <a:srgbClr val="FFFFFF"/>
          </a:solidFill>
          <a:ln w="571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76656" y="5184648"/>
            <a:ext cx="1801368" cy="42062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30" b="1" i="0">
                <a:solidFill>
                  <a:srgbClr val="5E17EB"/>
                </a:solidFill>
                <a:latin typeface="Arial"/>
              </a:defRPr>
            </a:pPr>
            <a:r>
              <a:t>Park boundary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624328" y="5120640"/>
            <a:ext cx="2377440" cy="557784"/>
          </a:xfrm>
          <a:prstGeom prst="roundRect">
            <a:avLst/>
          </a:prstGeom>
          <a:solidFill>
            <a:srgbClr val="FFFFFF"/>
          </a:solidFill>
          <a:ln w="571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34056" y="5184648"/>
            <a:ext cx="2167128" cy="42062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30" b="0" i="0">
                <a:solidFill>
                  <a:srgbClr val="242126"/>
                </a:solidFill>
                <a:latin typeface="Arial"/>
              </a:defRPr>
            </a:pPr>
            <a:r>
              <a:t>Vector · polygon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047488" y="5120640"/>
            <a:ext cx="2697480" cy="557784"/>
          </a:xfrm>
          <a:prstGeom prst="roundRect">
            <a:avLst/>
          </a:prstGeom>
          <a:solidFill>
            <a:srgbClr val="FFFFFF"/>
          </a:solidFill>
          <a:ln w="571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157216" y="5184648"/>
            <a:ext cx="2487168" cy="42062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30" b="0" i="0">
                <a:solidFill>
                  <a:srgbClr val="242126"/>
                </a:solidFill>
                <a:latin typeface="Arial"/>
              </a:defRPr>
            </a:pPr>
            <a:r>
              <a:t>Maharashtra Forest Dept.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790688" y="5120640"/>
            <a:ext cx="3794760" cy="557784"/>
          </a:xfrm>
          <a:prstGeom prst="roundRect">
            <a:avLst/>
          </a:prstGeom>
          <a:solidFill>
            <a:srgbClr val="FFFFFF"/>
          </a:solidFill>
          <a:ln w="571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900415" y="5184648"/>
            <a:ext cx="3584448" cy="42062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30" b="0" i="0">
                <a:solidFill>
                  <a:srgbClr val="242126"/>
                </a:solidFill>
                <a:latin typeface="Arial"/>
              </a:defRPr>
            </a:pPr>
            <a:r>
              <a:t>Study-area clip and boundary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598932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 i="1">
                <a:solidFill>
                  <a:srgbClr val="68636A"/>
                </a:solidFill>
                <a:latin typeface="Arial"/>
              </a:defRPr>
            </a:pPr>
            <a:r>
              <a:t>Pre-processing listed in the source: project to WGS84, clip to the SGNP boundary, and resample to a 30 m grid.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4048" y="201168"/>
            <a:ext cx="3749039" cy="31089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4632" y="210312"/>
            <a:ext cx="3547871" cy="29260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5E17EB"/>
                </a:solidFill>
                <a:latin typeface="Arial"/>
              </a:defRPr>
            </a:pPr>
            <a: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12680" y="228600"/>
            <a:ext cx="1691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50" b="1" i="0">
                <a:solidFill>
                  <a:srgbClr val="68636A"/>
                </a:solidFill>
                <a:latin typeface="Arial"/>
              </a:defRPr>
            </a:pPr>
            <a:r>
              <a:t>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67512"/>
            <a:ext cx="112014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010101"/>
                </a:solidFill>
                <a:latin typeface="Arial"/>
              </a:defRPr>
            </a:pPr>
            <a:r>
              <a:t>A seven-step GIS workflow turns spatial layers into response priorities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0996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0" b="0" i="0">
                <a:solidFill>
                  <a:srgbClr val="68636A"/>
                </a:solidFill>
                <a:latin typeface="Arial"/>
              </a:defRPr>
            </a:pPr>
            <a:r>
              <a:t>Multi-Criteria Decision Analysis (MCDA) with AHP-weighted overlay.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658368" cy="50292"/>
          </a:xfrm>
          <a:prstGeom prst="rect">
            <a:avLst/>
          </a:prstGeom>
          <a:solidFill>
            <a:srgbClr val="5E1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01968"/>
            <a:ext cx="512064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80" b="1" i="0">
                <a:solidFill>
                  <a:srgbClr val="817A70"/>
                </a:solidFill>
                <a:latin typeface="Arial"/>
              </a:defRPr>
            </a:pPr>
            <a:r>
              <a:t>SGNP WILDFIRE RISK ANALYSIS  •  OCTOBER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83680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20" b="1" i="0">
                <a:solidFill>
                  <a:srgbClr val="5E17EB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828800"/>
            <a:ext cx="10954512" cy="502920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1901952"/>
            <a:ext cx="356616" cy="356616"/>
          </a:xfrm>
          <a:prstGeom prst="ellipse">
            <a:avLst/>
          </a:prstGeom>
          <a:solidFill>
            <a:srgbClr val="5E1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1929384"/>
            <a:ext cx="33832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1901952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9" b="1" i="0">
                <a:solidFill>
                  <a:srgbClr val="5E17EB"/>
                </a:solidFill>
                <a:latin typeface="Arial"/>
              </a:defRPr>
            </a:pPr>
            <a:r>
              <a:t>Data collection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1892807"/>
            <a:ext cx="7818120" cy="35661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242126"/>
                </a:solidFill>
                <a:latin typeface="Arial"/>
              </a:defRPr>
            </a:pPr>
            <a:r>
              <a:t>SRTM DEM · OSM roads and settlements · MODIS NDVI · forest boundary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2436876"/>
            <a:ext cx="10954512" cy="502920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9808" y="2510028"/>
            <a:ext cx="356616" cy="356616"/>
          </a:xfrm>
          <a:prstGeom prst="ellipse">
            <a:avLst/>
          </a:prstGeom>
          <a:solidFill>
            <a:srgbClr val="ED7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2537460"/>
            <a:ext cx="33832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2510028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9" b="1" i="0">
                <a:solidFill>
                  <a:srgbClr val="ED7843"/>
                </a:solidFill>
                <a:latin typeface="Arial"/>
              </a:defRPr>
            </a:pPr>
            <a:r>
              <a:t>Pre-processing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500884"/>
            <a:ext cx="7818120" cy="35661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242126"/>
                </a:solidFill>
                <a:latin typeface="Arial"/>
              </a:defRPr>
            </a:pPr>
            <a:r>
              <a:t>Project to WGS84 · clip to SGNP · resample to 30 m grid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3044952"/>
            <a:ext cx="10954512" cy="502920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49808" y="3118104"/>
            <a:ext cx="356616" cy="356616"/>
          </a:xfrm>
          <a:prstGeom prst="ellipse">
            <a:avLst/>
          </a:prstGeom>
          <a:solidFill>
            <a:srgbClr val="00B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" y="3145536"/>
            <a:ext cx="33832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61872" y="3118104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9" b="1" i="0">
                <a:solidFill>
                  <a:srgbClr val="00BF63"/>
                </a:solidFill>
                <a:latin typeface="Arial"/>
              </a:defRPr>
            </a:pPr>
            <a:r>
              <a:t>Factor reclassification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3108960"/>
            <a:ext cx="7818120" cy="35661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242126"/>
                </a:solidFill>
                <a:latin typeface="Arial"/>
              </a:defRPr>
            </a:pPr>
            <a:r>
              <a:t>Slope · elevation · NDVI · road proximity · settlement proximity; each factor on a 1–5 scale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" y="3653028"/>
            <a:ext cx="10954512" cy="502920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49808" y="3726180"/>
            <a:ext cx="356616" cy="356616"/>
          </a:xfrm>
          <a:prstGeom prst="ellipse">
            <a:avLst/>
          </a:prstGeom>
          <a:solidFill>
            <a:srgbClr val="FF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" y="3753612"/>
            <a:ext cx="33832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61872" y="3726180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9" b="1" i="0">
                <a:solidFill>
                  <a:srgbClr val="FF5757"/>
                </a:solidFill>
                <a:latin typeface="Arial"/>
              </a:defRPr>
            </a:pPr>
            <a:r>
              <a:t>Weighted overlay (AHP)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3717036"/>
            <a:ext cx="7818120" cy="35661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242126"/>
                </a:solidFill>
                <a:latin typeface="Arial"/>
              </a:defRPr>
            </a:pPr>
            <a:r>
              <a:t>WSI = 0.40×Slope + 0.25×NDVI + 0.15×Elevation + 0.10×Roads + 0.10×Settlements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" y="4261104"/>
            <a:ext cx="10954512" cy="502920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49808" y="4334256"/>
            <a:ext cx="356616" cy="356616"/>
          </a:xfrm>
          <a:prstGeom prst="ellipse">
            <a:avLst/>
          </a:prstGeom>
          <a:solidFill>
            <a:srgbClr val="FF6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" y="4361688"/>
            <a:ext cx="33832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61872" y="4334256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9" b="1" i="0">
                <a:solidFill>
                  <a:srgbClr val="FF66C4"/>
                </a:solidFill>
                <a:latin typeface="Arial"/>
              </a:defRPr>
            </a:pPr>
            <a:r>
              <a:t>Susceptibility zonation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4325112"/>
            <a:ext cx="7818120" cy="35661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242126"/>
                </a:solidFill>
                <a:latin typeface="Arial"/>
              </a:defRPr>
            </a:pPr>
            <a:r>
              <a:t>Classify the weighted index into five classes, from Very Low to Very High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" y="4869180"/>
            <a:ext cx="10954512" cy="502920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49808" y="4942332"/>
            <a:ext cx="356616" cy="356616"/>
          </a:xfrm>
          <a:prstGeom prst="ellipse">
            <a:avLst/>
          </a:prstGeom>
          <a:solidFill>
            <a:srgbClr val="5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8952" y="4969764"/>
            <a:ext cx="33832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010101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61872" y="4942332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9" b="1" i="0">
                <a:solidFill>
                  <a:srgbClr val="5E17EB"/>
                </a:solidFill>
                <a:latin typeface="Arial"/>
              </a:defRPr>
            </a:pPr>
            <a:r>
              <a:t>Risk and exposure overlay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4933188"/>
            <a:ext cx="7818120" cy="35661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242126"/>
                </a:solidFill>
                <a:latin typeface="Arial"/>
              </a:defRPr>
            </a:pPr>
            <a:r>
              <a:t>Risk = susceptibility × exposure (human settlements and infrastructure)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" y="5477256"/>
            <a:ext cx="10954512" cy="502920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49808" y="5550408"/>
            <a:ext cx="356616" cy="356616"/>
          </a:xfrm>
          <a:prstGeom prst="ellipse">
            <a:avLst/>
          </a:prstGeom>
          <a:solidFill>
            <a:srgbClr val="FFD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8952" y="5577840"/>
            <a:ext cx="33832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010101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61872" y="5550408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9" b="1" i="0">
                <a:solidFill>
                  <a:srgbClr val="5E17EB"/>
                </a:solidFill>
                <a:latin typeface="Arial"/>
              </a:defRPr>
            </a:pPr>
            <a:r>
              <a:t>Evacuation planning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74720" y="5541264"/>
            <a:ext cx="7818120" cy="35661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242126"/>
                </a:solidFill>
                <a:latin typeface="Arial"/>
              </a:defRPr>
            </a:pPr>
            <a:r>
              <a:t>Network analysis · road accessibility · safe-zone identification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6199632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40" b="0" i="1">
                <a:solidFill>
                  <a:srgbClr val="68636A"/>
                </a:solidFill>
                <a:latin typeface="Arial"/>
              </a:defRPr>
            </a:pPr>
            <a:r>
              <a:t>The source deck also contains a colored workflow graphic; this slide re-expresses its stages in the supplied light theme.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4048" y="201168"/>
            <a:ext cx="3749039" cy="31089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4632" y="210312"/>
            <a:ext cx="3547871" cy="29260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5E17EB"/>
                </a:solidFill>
                <a:latin typeface="Arial"/>
              </a:defRPr>
            </a:pPr>
            <a:r>
              <a:t>AHP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12680" y="228600"/>
            <a:ext cx="1691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50" b="1" i="0">
                <a:solidFill>
                  <a:srgbClr val="68636A"/>
                </a:solidFill>
                <a:latin typeface="Arial"/>
              </a:defRPr>
            </a:pPr>
            <a:r>
              <a:t>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67512"/>
            <a:ext cx="112014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010101"/>
                </a:solidFill>
                <a:latin typeface="Arial"/>
              </a:defRPr>
            </a:pPr>
            <a:r>
              <a:t>Slope carries the largest weight in the five-factor formulation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0996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0" b="0" i="0">
                <a:solidFill>
                  <a:srgbClr val="68636A"/>
                </a:solidFill>
                <a:latin typeface="Arial"/>
              </a:defRPr>
            </a:pPr>
            <a:r>
              <a:t>Weights reproduced from the source workflow and factor-weight chart.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658368" cy="50292"/>
          </a:xfrm>
          <a:prstGeom prst="rect">
            <a:avLst/>
          </a:prstGeom>
          <a:solidFill>
            <a:srgbClr val="5E1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01968"/>
            <a:ext cx="512064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80" b="1" i="0">
                <a:solidFill>
                  <a:srgbClr val="817A70"/>
                </a:solidFill>
                <a:latin typeface="Arial"/>
              </a:defRPr>
            </a:pPr>
            <a:r>
              <a:t>SGNP WILDFIRE RISK ANALYSIS  •  OCTOBER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83680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20" b="1" i="0">
                <a:solidFill>
                  <a:srgbClr val="5E17EB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874519"/>
            <a:ext cx="6537960" cy="4343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084831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5E17EB"/>
                </a:solidFill>
                <a:latin typeface="Arial"/>
              </a:defRPr>
            </a:pPr>
            <a:r>
              <a:t>AHP FACTOR WEIGHTS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615184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242126"/>
                </a:solidFill>
                <a:latin typeface="Arial"/>
              </a:defRPr>
            </a:pPr>
            <a:r>
              <a:t>Slope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2647188"/>
            <a:ext cx="3474720" cy="219456"/>
          </a:xfrm>
          <a:prstGeom prst="roundRect">
            <a:avLst/>
          </a:prstGeom>
          <a:solidFill>
            <a:srgbClr val="F1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286000" y="2647188"/>
            <a:ext cx="3474720" cy="219456"/>
          </a:xfrm>
          <a:prstGeom prst="roundRect">
            <a:avLst/>
          </a:prstGeom>
          <a:solidFill>
            <a:srgbClr val="5E1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07024" y="2615184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242126"/>
                </a:solidFill>
                <a:latin typeface="Arial"/>
              </a:defRPr>
            </a:pPr>
            <a:r>
              <a:t>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3236976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242126"/>
                </a:solidFill>
                <a:latin typeface="Arial"/>
              </a:defRPr>
            </a:pPr>
            <a:r>
              <a:t>NDVI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0" y="3268980"/>
            <a:ext cx="3474720" cy="219456"/>
          </a:xfrm>
          <a:prstGeom prst="roundRect">
            <a:avLst/>
          </a:prstGeom>
          <a:solidFill>
            <a:srgbClr val="F1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286000" y="3268980"/>
            <a:ext cx="2171700" cy="219456"/>
          </a:xfrm>
          <a:prstGeom prst="roundRect">
            <a:avLst/>
          </a:prstGeom>
          <a:solidFill>
            <a:srgbClr val="ED7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07024" y="3236976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242126"/>
                </a:solidFill>
                <a:latin typeface="Arial"/>
              </a:defRPr>
            </a:pPr>
            <a:r>
              <a:t>25%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858768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242126"/>
                </a:solidFill>
                <a:latin typeface="Arial"/>
              </a:defRPr>
            </a:pPr>
            <a:r>
              <a:t>Elevation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86000" y="3890772"/>
            <a:ext cx="3474720" cy="219456"/>
          </a:xfrm>
          <a:prstGeom prst="roundRect">
            <a:avLst/>
          </a:prstGeom>
          <a:solidFill>
            <a:srgbClr val="F1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286000" y="3890772"/>
            <a:ext cx="1303020" cy="219456"/>
          </a:xfrm>
          <a:prstGeom prst="roundRect">
            <a:avLst/>
          </a:prstGeom>
          <a:solidFill>
            <a:srgbClr val="FFD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07024" y="3858768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242126"/>
                </a:solidFill>
                <a:latin typeface="Arial"/>
              </a:defRPr>
            </a:pPr>
            <a:r>
              <a:t>15%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4480560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242126"/>
                </a:solidFill>
                <a:latin typeface="Arial"/>
              </a:defRPr>
            </a:pPr>
            <a:r>
              <a:t>Roads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86000" y="4512564"/>
            <a:ext cx="3474720" cy="219456"/>
          </a:xfrm>
          <a:prstGeom prst="roundRect">
            <a:avLst/>
          </a:prstGeom>
          <a:solidFill>
            <a:srgbClr val="F1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286000" y="4512564"/>
            <a:ext cx="868680" cy="219456"/>
          </a:xfrm>
          <a:prstGeom prst="roundRect">
            <a:avLst/>
          </a:prstGeom>
          <a:solidFill>
            <a:srgbClr val="5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07024" y="4480560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242126"/>
                </a:solidFill>
                <a:latin typeface="Arial"/>
              </a:defRPr>
            </a:pPr>
            <a:r>
              <a:t>10%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" y="5102352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242126"/>
                </a:solidFill>
                <a:latin typeface="Arial"/>
              </a:defRPr>
            </a:pPr>
            <a:r>
              <a:t>Settlements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286000" y="5134356"/>
            <a:ext cx="3474720" cy="219456"/>
          </a:xfrm>
          <a:prstGeom prst="roundRect">
            <a:avLst/>
          </a:prstGeom>
          <a:solidFill>
            <a:srgbClr val="F1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286000" y="5134356"/>
            <a:ext cx="868680" cy="219456"/>
          </a:xfrm>
          <a:prstGeom prst="roundRect">
            <a:avLst/>
          </a:prstGeom>
          <a:solidFill>
            <a:srgbClr val="00B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07024" y="5102352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242126"/>
                </a:solidFill>
                <a:latin typeface="Arial"/>
              </a:defRPr>
            </a:pPr>
            <a:r>
              <a:t>10%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58064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68636A"/>
                </a:solidFill>
                <a:latin typeface="Arial"/>
              </a:defRPr>
            </a:pPr>
            <a:r>
              <a:t>Total weight = 100%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60920" y="1874519"/>
            <a:ext cx="4297680" cy="1828800"/>
          </a:xfrm>
          <a:prstGeom prst="roundRect">
            <a:avLst/>
          </a:prstGeom>
          <a:solidFill>
            <a:srgbClr val="F0E9FF"/>
          </a:solidFill>
          <a:ln w="8890">
            <a:solidFill>
              <a:srgbClr val="DDD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89520" y="210312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0" b="1" i="0">
                <a:solidFill>
                  <a:srgbClr val="5E17EB"/>
                </a:solidFill>
                <a:latin typeface="Arial"/>
              </a:defRPr>
            </a:pPr>
            <a:r>
              <a:t>WEIGHTED SUSCEPTIBILITY INDEX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0" y="2514600"/>
            <a:ext cx="3703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242126"/>
                </a:solidFill>
                <a:latin typeface="Arial"/>
              </a:defRPr>
            </a:pPr>
            <a:r>
              <a:t>WSI = 0.40×Slope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242126"/>
                </a:solidFill>
                <a:latin typeface="Arial"/>
              </a:defRPr>
            </a:pPr>
            <a:r>
              <a:t>+ 0.25×NDVI + 0.15×Elevation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242126"/>
                </a:solidFill>
                <a:latin typeface="Arial"/>
              </a:defRPr>
            </a:pPr>
            <a:r>
              <a:t>+ 0.10×Roads + 0.10×Settlements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60920" y="3931920"/>
            <a:ext cx="4297680" cy="932688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60920" y="3931920"/>
            <a:ext cx="64008" cy="932688"/>
          </a:xfrm>
          <a:prstGeom prst="rect">
            <a:avLst/>
          </a:prstGeom>
          <a:solidFill>
            <a:srgbClr val="ED7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43800" y="4050791"/>
            <a:ext cx="398678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ED7843"/>
                </a:solidFill>
                <a:latin typeface="Arial"/>
              </a:defRPr>
            </a:pPr>
            <a:r>
              <a:t>Interpretation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43800" y="4389120"/>
            <a:ext cx="3968496" cy="3840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19" b="0" i="0">
                <a:solidFill>
                  <a:srgbClr val="242126"/>
                </a:solidFill>
                <a:latin typeface="Arial"/>
              </a:defRPr>
            </a:pPr>
            <a:r>
              <a:t>The chart places slope first (40%), vegetation second (25%), elevation third (15%), and roads and settlements at 10% each.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60920" y="5029200"/>
            <a:ext cx="4297680" cy="1188720"/>
          </a:xfrm>
          <a:prstGeom prst="roundRect">
            <a:avLst/>
          </a:prstGeom>
          <a:solidFill>
            <a:srgbClr val="FFE9E9"/>
          </a:solidFill>
          <a:ln w="825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60920" y="5029200"/>
            <a:ext cx="64008" cy="1188720"/>
          </a:xfrm>
          <a:prstGeom prst="rect">
            <a:avLst/>
          </a:prstGeom>
          <a:solidFill>
            <a:srgbClr val="FF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43800" y="5148072"/>
            <a:ext cx="398678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FF5757"/>
                </a:solidFill>
                <a:latin typeface="Arial"/>
              </a:defRPr>
            </a:pPr>
            <a:r>
              <a:t>Important review note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43800" y="5486400"/>
            <a:ext cx="3968496" cy="6400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90" b="0" i="0">
                <a:solidFill>
                  <a:srgbClr val="242126"/>
                </a:solidFill>
                <a:latin typeface="Arial"/>
              </a:defRPr>
            </a:pPr>
            <a:r>
              <a:t>A separate map plate reports 35% slope, 30% fuel/NDVI, 25% WUI distance and 10% road distance. See the final review slide before relying on either specification.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4048" y="201168"/>
            <a:ext cx="3749039" cy="31089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4632" y="210312"/>
            <a:ext cx="3547871" cy="29260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5E17EB"/>
                </a:solidFill>
                <a:latin typeface="Arial"/>
              </a:defRPr>
            </a:pPr>
            <a:r>
              <a:t>RESULTS · MAP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12680" y="228600"/>
            <a:ext cx="1691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50" b="1" i="0">
                <a:solidFill>
                  <a:srgbClr val="68636A"/>
                </a:solidFill>
                <a:latin typeface="Arial"/>
              </a:defRPr>
            </a:pPr>
            <a:r>
              <a:t>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67512"/>
            <a:ext cx="112014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010101"/>
                </a:solidFill>
                <a:latin typeface="Arial"/>
              </a:defRPr>
            </a:pPr>
            <a:r>
              <a:t>Susceptibility zones vary from exposed edges to moist core areas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0996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0" b="0" i="0">
                <a:solidFill>
                  <a:srgbClr val="68636A"/>
                </a:solidFill>
                <a:latin typeface="Arial"/>
              </a:defRPr>
            </a:pPr>
            <a:r>
              <a:t>Map plate and class statistics reproduced from the source deck.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658368" cy="50292"/>
          </a:xfrm>
          <a:prstGeom prst="rect">
            <a:avLst/>
          </a:prstGeom>
          <a:solidFill>
            <a:srgbClr val="5E1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01968"/>
            <a:ext cx="512064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80" b="1" i="0">
                <a:solidFill>
                  <a:srgbClr val="817A70"/>
                </a:solidFill>
                <a:latin typeface="Arial"/>
              </a:defRPr>
            </a:pPr>
            <a:r>
              <a:t>SGNP WILDFIRE RISK ANALYSIS  •  OCTOBER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83680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20" b="1" i="0">
                <a:solidFill>
                  <a:srgbClr val="5E17EB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1847088"/>
            <a:ext cx="6355080" cy="436168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usceptibility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892807"/>
            <a:ext cx="6263640" cy="42702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78040" y="1920240"/>
            <a:ext cx="4251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5E17EB"/>
                </a:solidFill>
                <a:latin typeface="Arial"/>
              </a:defRPr>
            </a:pPr>
            <a:r>
              <a:t>AREA SHARE BY CLASS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50608" y="2286000"/>
            <a:ext cx="4480560" cy="62179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50608" y="2286000"/>
            <a:ext cx="109728" cy="621792"/>
          </a:xfrm>
          <a:prstGeom prst="rect">
            <a:avLst/>
          </a:prstGeom>
          <a:solidFill>
            <a:srgbClr val="FF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88352" y="2359152"/>
            <a:ext cx="14173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40" b="1" i="0">
                <a:solidFill>
                  <a:srgbClr val="242126"/>
                </a:solidFill>
                <a:latin typeface="Arial"/>
              </a:defRPr>
            </a:pPr>
            <a:r>
              <a:t>Very High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2359152"/>
            <a:ext cx="26974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19" b="1" i="0">
                <a:solidFill>
                  <a:srgbClr val="5E17EB"/>
                </a:solidFill>
                <a:latin typeface="Arial"/>
              </a:defRPr>
            </a:pPr>
            <a:r>
              <a:t>9.9 km²  ·  9.5%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88352" y="2596896"/>
            <a:ext cx="39776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90" b="0" i="0">
                <a:solidFill>
                  <a:srgbClr val="68636A"/>
                </a:solidFill>
                <a:latin typeface="Arial"/>
              </a:defRPr>
            </a:pPr>
            <a:r>
              <a:t>Steep slopes and high NDVI periphery near settlements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50608" y="3035808"/>
            <a:ext cx="4480560" cy="62179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50608" y="3035808"/>
            <a:ext cx="109728" cy="621792"/>
          </a:xfrm>
          <a:prstGeom prst="rect">
            <a:avLst/>
          </a:prstGeom>
          <a:solidFill>
            <a:srgbClr val="ED7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88352" y="3108960"/>
            <a:ext cx="14173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40" b="1" i="0">
                <a:solidFill>
                  <a:srgbClr val="242126"/>
                </a:solidFill>
                <a:latin typeface="Arial"/>
              </a:defRPr>
            </a:pPr>
            <a: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20" y="3108960"/>
            <a:ext cx="26974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19" b="1" i="0">
                <a:solidFill>
                  <a:srgbClr val="5E17EB"/>
                </a:solidFill>
                <a:latin typeface="Arial"/>
              </a:defRPr>
            </a:pPr>
            <a:r>
              <a:t>20.5 km²  ·  19.7%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88352" y="3346703"/>
            <a:ext cx="39776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90" b="0" i="0">
                <a:solidFill>
                  <a:srgbClr val="68636A"/>
                </a:solidFill>
                <a:latin typeface="Arial"/>
              </a:defRPr>
            </a:pPr>
            <a:r>
              <a:t>Degraded areas near Borivali and Dahisar gates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50608" y="3785615"/>
            <a:ext cx="4480560" cy="62179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150608" y="3785615"/>
            <a:ext cx="109728" cy="621792"/>
          </a:xfrm>
          <a:prstGeom prst="rect">
            <a:avLst/>
          </a:prstGeom>
          <a:solidFill>
            <a:srgbClr val="FFD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88352" y="3858768"/>
            <a:ext cx="14173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40" b="1" i="0">
                <a:solidFill>
                  <a:srgbClr val="242126"/>
                </a:solidFill>
                <a:latin typeface="Arial"/>
              </a:defRPr>
            </a:pPr>
            <a:r>
              <a:t>Moderate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3858768"/>
            <a:ext cx="26974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19" b="1" i="0">
                <a:solidFill>
                  <a:srgbClr val="5E17EB"/>
                </a:solidFill>
                <a:latin typeface="Arial"/>
              </a:defRPr>
            </a:pPr>
            <a:r>
              <a:t>29.2 km²  ·  28.1%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88352" y="4096511"/>
            <a:ext cx="39776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90" b="0" i="0">
                <a:solidFill>
                  <a:srgbClr val="68636A"/>
                </a:solidFill>
                <a:latin typeface="Arial"/>
              </a:defRPr>
            </a:pPr>
            <a:r>
              <a:t>Mixed forest–urban transition zones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50608" y="4535424"/>
            <a:ext cx="4480560" cy="62179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150608" y="4535424"/>
            <a:ext cx="109728" cy="621792"/>
          </a:xfrm>
          <a:prstGeom prst="rect">
            <a:avLst/>
          </a:prstGeom>
          <a:solidFill>
            <a:srgbClr val="00B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88352" y="4608576"/>
            <a:ext cx="14173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40" b="1" i="0">
                <a:solidFill>
                  <a:srgbClr val="242126"/>
                </a:solidFill>
                <a:latin typeface="Arial"/>
              </a:defRPr>
            </a:pPr>
            <a:r>
              <a:t>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32520" y="4608576"/>
            <a:ext cx="26974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19" b="1" i="0">
                <a:solidFill>
                  <a:srgbClr val="5E17EB"/>
                </a:solidFill>
                <a:latin typeface="Arial"/>
              </a:defRPr>
            </a:pPr>
            <a:r>
              <a:t>25.4 km²  ·  24.5%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88352" y="4846320"/>
            <a:ext cx="39776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90" b="0" i="0">
                <a:solidFill>
                  <a:srgbClr val="68636A"/>
                </a:solidFill>
                <a:latin typeface="Arial"/>
              </a:defRPr>
            </a:pPr>
            <a:r>
              <a:t>Dense core forest with low ignition probability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50608" y="5285231"/>
            <a:ext cx="4480560" cy="62179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150608" y="5285231"/>
            <a:ext cx="109728" cy="621792"/>
          </a:xfrm>
          <a:prstGeom prst="rect">
            <a:avLst/>
          </a:prstGeom>
          <a:solidFill>
            <a:srgbClr val="5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88352" y="5358383"/>
            <a:ext cx="14173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40" b="1" i="0">
                <a:solidFill>
                  <a:srgbClr val="242126"/>
                </a:solidFill>
                <a:latin typeface="Arial"/>
              </a:defRPr>
            </a:pPr>
            <a:r>
              <a:t>Very Low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32520" y="5358383"/>
            <a:ext cx="26974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19" b="1" i="0">
                <a:solidFill>
                  <a:srgbClr val="5E17EB"/>
                </a:solidFill>
                <a:latin typeface="Arial"/>
              </a:defRPr>
            </a:pPr>
            <a:r>
              <a:t>18.9 km²  ·  18.2%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88352" y="5596127"/>
            <a:ext cx="39776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90" b="0" i="0">
                <a:solidFill>
                  <a:srgbClr val="68636A"/>
                </a:solidFill>
                <a:latin typeface="Arial"/>
              </a:defRPr>
            </a:pPr>
            <a:r>
              <a:t>Core forest and water bodies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0" y="6108192"/>
            <a:ext cx="4297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 i="1">
                <a:solidFill>
                  <a:srgbClr val="68636A"/>
                </a:solidFill>
                <a:latin typeface="Arial"/>
              </a:defRPr>
            </a:pPr>
            <a:r>
              <a:t>The map legend additionally marks reservoir waterbodies as “zero ignition.”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4048" y="201168"/>
            <a:ext cx="3749039" cy="31089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4632" y="210312"/>
            <a:ext cx="3547871" cy="29260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5E17EB"/>
                </a:solidFill>
                <a:latin typeface="Arial"/>
              </a:defRPr>
            </a:pPr>
            <a:r>
              <a:t>SPATIAL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12680" y="228600"/>
            <a:ext cx="1691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50" b="1" i="0">
                <a:solidFill>
                  <a:srgbClr val="68636A"/>
                </a:solidFill>
                <a:latin typeface="Arial"/>
              </a:defRPr>
            </a:pPr>
            <a:r>
              <a:t>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67512"/>
            <a:ext cx="112014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010101"/>
                </a:solidFill>
                <a:latin typeface="Arial"/>
              </a:defRPr>
            </a:pPr>
            <a:r>
              <a:t>Three mapped locations illustrate different risk mechanisms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0996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0" b="0" i="0">
                <a:solidFill>
                  <a:srgbClr val="68636A"/>
                </a:solidFill>
                <a:latin typeface="Arial"/>
              </a:defRPr>
            </a:pPr>
            <a:r>
              <a:t>Hotspot callouts are transcribed from the susceptibility map plate.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658368" cy="50292"/>
          </a:xfrm>
          <a:prstGeom prst="rect">
            <a:avLst/>
          </a:prstGeom>
          <a:solidFill>
            <a:srgbClr val="5E1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01968"/>
            <a:ext cx="512064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80" b="1" i="0">
                <a:solidFill>
                  <a:srgbClr val="817A70"/>
                </a:solidFill>
                <a:latin typeface="Arial"/>
              </a:defRPr>
            </a:pPr>
            <a:r>
              <a:t>SGNP WILDFIRE RISK ANALYSIS  •  OCTOBER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83680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20" b="1" i="0">
                <a:solidFill>
                  <a:srgbClr val="5E17EB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1856231"/>
            <a:ext cx="6492240" cy="44348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usceptibility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901951"/>
            <a:ext cx="6400800" cy="43434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296912" y="1874519"/>
            <a:ext cx="4343400" cy="1115568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296912" y="1874519"/>
            <a:ext cx="64008" cy="1115568"/>
          </a:xfrm>
          <a:prstGeom prst="rect">
            <a:avLst/>
          </a:prstGeom>
          <a:solidFill>
            <a:srgbClr val="FF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1993391"/>
            <a:ext cx="403250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60" b="1" i="0">
                <a:solidFill>
                  <a:srgbClr val="FF5757"/>
                </a:solidFill>
                <a:latin typeface="Arial"/>
              </a:defRPr>
            </a:pPr>
            <a:r>
              <a:t>HOTSPOT A · EASTERN YEOOR RIDGE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79792" y="2331720"/>
            <a:ext cx="4014215" cy="56692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30" b="0" i="0">
                <a:solidFill>
                  <a:srgbClr val="242126"/>
                </a:solidFill>
                <a:latin typeface="Arial"/>
              </a:defRPr>
            </a:pPr>
            <a:r>
              <a:t>High fuel load and steep slopes. The map callout reports WSI &gt; 0.85.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96912" y="3182112"/>
            <a:ext cx="4343400" cy="1115568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96912" y="3182112"/>
            <a:ext cx="64008" cy="1115568"/>
          </a:xfrm>
          <a:prstGeom prst="rect">
            <a:avLst/>
          </a:prstGeom>
          <a:solidFill>
            <a:srgbClr val="ED7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79792" y="3300984"/>
            <a:ext cx="403250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60" b="1" i="0">
                <a:solidFill>
                  <a:srgbClr val="ED7843"/>
                </a:solidFill>
                <a:latin typeface="Arial"/>
              </a:defRPr>
            </a:pPr>
            <a:r>
              <a:t>HOTSPOT B · DAHISAR WUI BUFFER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79792" y="3639312"/>
            <a:ext cx="4014215" cy="56692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30" b="0" i="0">
                <a:solidFill>
                  <a:srgbClr val="242126"/>
                </a:solidFill>
                <a:latin typeface="Arial"/>
              </a:defRPr>
            </a:pPr>
            <a:r>
              <a:t>Frequent anthropogenic ignitions are highlighted near the western/northwestern urban–forest edge.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96912" y="4489704"/>
            <a:ext cx="4343400" cy="1115568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96912" y="4489704"/>
            <a:ext cx="64008" cy="1115568"/>
          </a:xfrm>
          <a:prstGeom prst="rect">
            <a:avLst/>
          </a:prstGeom>
          <a:solidFill>
            <a:srgbClr val="00B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79792" y="4608576"/>
            <a:ext cx="403250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60" b="1" i="0">
                <a:solidFill>
                  <a:srgbClr val="00BF63"/>
                </a:solidFill>
                <a:latin typeface="Arial"/>
              </a:defRPr>
            </a:pPr>
            <a:r>
              <a:t>LOW RISK · TULSI CATCHMENT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79792" y="4946904"/>
            <a:ext cx="4014215" cy="56692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30" b="0" i="0">
                <a:solidFill>
                  <a:srgbClr val="242126"/>
                </a:solidFill>
                <a:latin typeface="Arial"/>
              </a:defRPr>
            </a:pPr>
            <a:r>
              <a:t>Evergreen moisture sanctuary around Tulsi; the map callout reports WSI &lt; 0.20.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42631" y="5815584"/>
            <a:ext cx="4160520" cy="4114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 i="1">
                <a:solidFill>
                  <a:srgbClr val="68636A"/>
                </a:solidFill>
                <a:latin typeface="Arial"/>
              </a:defRPr>
            </a:pPr>
            <a:r>
              <a:t>Source conclusion reports five hotspots overall; only two high-risk hotspots and one low-risk area are explicitly labelled on this map plate.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4048" y="201168"/>
            <a:ext cx="3749039" cy="31089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4632" y="210312"/>
            <a:ext cx="3547871" cy="29260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5E17EB"/>
                </a:solidFill>
                <a:latin typeface="Arial"/>
              </a:defRPr>
            </a:pPr>
            <a:r>
              <a:t>RESULTS · MAP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12680" y="228600"/>
            <a:ext cx="1691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50" b="1" i="0">
                <a:solidFill>
                  <a:srgbClr val="68636A"/>
                </a:solidFill>
                <a:latin typeface="Arial"/>
              </a:defRPr>
            </a:pPr>
            <a:r>
              <a:t>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67512"/>
            <a:ext cx="112014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010101"/>
                </a:solidFill>
                <a:latin typeface="Arial"/>
              </a:defRPr>
            </a:pPr>
            <a:r>
              <a:t>Exposure is concentrated along the urban–forest margin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0996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0" b="0" i="0">
                <a:solidFill>
                  <a:srgbClr val="68636A"/>
                </a:solidFill>
                <a:latin typeface="Arial"/>
              </a:defRPr>
            </a:pPr>
            <a:r>
              <a:t>Risk exposure map, asset layers and map-plate metrics from the source.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658368" cy="50292"/>
          </a:xfrm>
          <a:prstGeom prst="rect">
            <a:avLst/>
          </a:prstGeom>
          <a:solidFill>
            <a:srgbClr val="5E1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01968"/>
            <a:ext cx="512064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80" b="1" i="0">
                <a:solidFill>
                  <a:srgbClr val="817A70"/>
                </a:solidFill>
                <a:latin typeface="Arial"/>
              </a:defRPr>
            </a:pPr>
            <a:r>
              <a:t>SGNP WILDFIRE RISK ANALYSIS  •  OCTOBER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83680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20" b="1" i="0">
                <a:solidFill>
                  <a:srgbClr val="5E17EB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1847088"/>
            <a:ext cx="6656832" cy="448970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isk_exposur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892807"/>
            <a:ext cx="6565392" cy="43982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424927" y="1883664"/>
            <a:ext cx="4069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5E17EB"/>
                </a:solidFill>
                <a:latin typeface="Arial"/>
              </a:defRPr>
            </a:pPr>
            <a:r>
              <a:t>EXPOSURE INDICATORS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2267712"/>
            <a:ext cx="4160520" cy="521207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71231" y="2359152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5E17EB"/>
                </a:solidFill>
                <a:latin typeface="Arial"/>
              </a:defRPr>
            </a:pPr>
            <a:r>
              <a:t>500 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2359152"/>
            <a:ext cx="235915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0" b="1" i="0">
                <a:solidFill>
                  <a:srgbClr val="242126"/>
                </a:solidFill>
                <a:latin typeface="Arial"/>
              </a:defRPr>
            </a:pPr>
            <a:r>
              <a:t>WUI exposure buffer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2907791"/>
            <a:ext cx="4160520" cy="521207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71231" y="2999232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ED7843"/>
                </a:solidFill>
                <a:latin typeface="Arial"/>
              </a:defRPr>
            </a:pPr>
            <a:r>
              <a:t>42.8 km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2999232"/>
            <a:ext cx="235915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0" b="1" i="0">
                <a:solidFill>
                  <a:srgbClr val="242126"/>
                </a:solidFill>
                <a:latin typeface="Arial"/>
              </a:defRPr>
            </a:pPr>
            <a:r>
              <a:t>WUI total length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40" y="3547872"/>
            <a:ext cx="4160520" cy="521207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71231" y="3639312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F5757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3639312"/>
            <a:ext cx="235915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0" b="1" i="0">
                <a:solidFill>
                  <a:srgbClr val="242126"/>
                </a:solidFill>
                <a:latin typeface="Arial"/>
              </a:defRPr>
            </a:pPr>
            <a:r>
              <a:t>Exposed tribal padas / settlements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06640" y="4187952"/>
            <a:ext cx="4160520" cy="521207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71231" y="4279392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0BF63"/>
                </a:solidFill>
                <a:latin typeface="Arial"/>
              </a:defRPr>
            </a:pPr>
            <a:r>
              <a:t>&gt;450,000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4279392"/>
            <a:ext cx="235915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0" b="1" i="0">
                <a:solidFill>
                  <a:srgbClr val="242126"/>
                </a:solidFill>
                <a:latin typeface="Arial"/>
              </a:defRPr>
            </a:pPr>
            <a:r>
              <a:t>Estimated fringe population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06640" y="4828031"/>
            <a:ext cx="4160520" cy="521207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71231" y="4919471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5CE1E6"/>
                </a:solidFill>
                <a:latin typeface="Arial"/>
              </a:defRPr>
            </a:pPr>
            <a:r>
              <a:t>100%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4919471"/>
            <a:ext cx="235915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0" b="1" i="0">
                <a:solidFill>
                  <a:srgbClr val="242126"/>
                </a:solidFill>
                <a:latin typeface="Arial"/>
              </a:defRPr>
            </a:pPr>
            <a:r>
              <a:t>Core water catchment protection shown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06640" y="5596128"/>
            <a:ext cx="4160520" cy="658368"/>
          </a:xfrm>
          <a:prstGeom prst="roundRect">
            <a:avLst/>
          </a:prstGeom>
          <a:solidFill>
            <a:srgbClr val="FFF0E7"/>
          </a:solidFill>
          <a:ln w="8890">
            <a:solidFill>
              <a:srgbClr val="F6D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89520" y="5696712"/>
            <a:ext cx="12801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1" i="0">
                <a:solidFill>
                  <a:srgbClr val="ED7843"/>
                </a:solidFill>
                <a:latin typeface="Arial"/>
              </a:defRPr>
            </a:pPr>
            <a:r>
              <a:t>MAP CALLOUT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32520" y="5669280"/>
            <a:ext cx="258775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10" b="0" i="0">
                <a:solidFill>
                  <a:srgbClr val="242126"/>
                </a:solidFill>
                <a:latin typeface="Arial"/>
              </a:defRPr>
            </a:pPr>
            <a:r>
              <a:t>Dense residential clusters are marked as high asset exposure on the western boundary.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4048" y="201168"/>
            <a:ext cx="3749039" cy="31089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4632" y="210312"/>
            <a:ext cx="3547871" cy="29260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5E17EB"/>
                </a:solidFill>
                <a:latin typeface="Arial"/>
              </a:defRPr>
            </a:pPr>
            <a:r>
              <a:t>RESULTS · MAP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12680" y="228600"/>
            <a:ext cx="1691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50" b="1" i="0">
                <a:solidFill>
                  <a:srgbClr val="68636A"/>
                </a:solidFill>
                <a:latin typeface="Arial"/>
              </a:defRPr>
            </a:pPr>
            <a:r>
              <a:t>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67512"/>
            <a:ext cx="112014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010101"/>
                </a:solidFill>
                <a:latin typeface="Arial"/>
              </a:defRPr>
            </a:pPr>
            <a:r>
              <a:t>Accessibility analysis is intended to guide safe movement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0996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0" b="0" i="0">
                <a:solidFill>
                  <a:srgbClr val="68636A"/>
                </a:solidFill>
                <a:latin typeface="Arial"/>
              </a:defRPr>
            </a:pPr>
            <a:r>
              <a:t>Source framework: network analysis, road accessibility and safe-zone identification.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658368" cy="50292"/>
          </a:xfrm>
          <a:prstGeom prst="rect">
            <a:avLst/>
          </a:prstGeom>
          <a:solidFill>
            <a:srgbClr val="5E1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01968"/>
            <a:ext cx="512064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80" b="1" i="0">
                <a:solidFill>
                  <a:srgbClr val="817A70"/>
                </a:solidFill>
                <a:latin typeface="Arial"/>
              </a:defRPr>
            </a:pPr>
            <a:r>
              <a:t>SGNP WILDFIRE RISK ANALYSIS  •  OCTOBER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83680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20" b="1" i="0">
                <a:solidFill>
                  <a:srgbClr val="5E17EB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1847088"/>
            <a:ext cx="6656832" cy="448970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evacuation_accessibility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892807"/>
            <a:ext cx="6565392" cy="439826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452360" y="1901952"/>
            <a:ext cx="1828800" cy="109728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52360" y="1901952"/>
            <a:ext cx="1828800" cy="50292"/>
          </a:xfrm>
          <a:prstGeom prst="rect">
            <a:avLst/>
          </a:prstGeom>
          <a:solidFill>
            <a:srgbClr val="00B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2088" y="2057400"/>
            <a:ext cx="1609344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00BF63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62088" y="2496312"/>
            <a:ext cx="1609344" cy="411479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80" b="0" i="0">
                <a:solidFill>
                  <a:srgbClr val="242126"/>
                </a:solidFill>
                <a:latin typeface="Arial"/>
              </a:defRPr>
            </a:pPr>
            <a:r>
              <a:t>Safe zones mapped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64040" y="1901952"/>
            <a:ext cx="2103120" cy="109728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464040" y="1901952"/>
            <a:ext cx="2103120" cy="50292"/>
          </a:xfrm>
          <a:prstGeom prst="rect">
            <a:avLst/>
          </a:prstGeom>
          <a:solidFill>
            <a:srgbClr val="ED7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73767" y="2057400"/>
            <a:ext cx="1883663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ED7843"/>
                </a:solidFill>
                <a:latin typeface="Arial"/>
              </a:defRPr>
            </a:pPr>
            <a:r>
              <a:t>42.8 km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73767" y="2496312"/>
            <a:ext cx="1883663" cy="411479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80" b="0" i="0">
                <a:solidFill>
                  <a:srgbClr val="242126"/>
                </a:solidFill>
                <a:latin typeface="Arial"/>
              </a:defRPr>
            </a:pPr>
            <a:r>
              <a:t>WUI interface length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52360" y="3218688"/>
            <a:ext cx="4114800" cy="91440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52360" y="3218688"/>
            <a:ext cx="64008" cy="914400"/>
          </a:xfrm>
          <a:prstGeom prst="rect">
            <a:avLst/>
          </a:prstGeom>
          <a:solidFill>
            <a:srgbClr val="5E1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35240" y="3337560"/>
            <a:ext cx="380390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80" b="1" i="0">
                <a:solidFill>
                  <a:srgbClr val="5E17EB"/>
                </a:solidFill>
                <a:latin typeface="Arial"/>
              </a:defRPr>
            </a:pPr>
            <a:r>
              <a:t>Planning logic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3675887"/>
            <a:ext cx="3785615" cy="36576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10" b="0" i="0">
                <a:solidFill>
                  <a:srgbClr val="242126"/>
                </a:solidFill>
                <a:latin typeface="Arial"/>
              </a:defRPr>
            </a:pPr>
            <a:r>
              <a:t>Use the road network and access routes to identify reachable assembly locations and prioritize response access.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52360" y="4297680"/>
            <a:ext cx="4114800" cy="91440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52360" y="4297680"/>
            <a:ext cx="64008" cy="914400"/>
          </a:xfrm>
          <a:prstGeom prst="rect">
            <a:avLst/>
          </a:prstGeom>
          <a:solidFill>
            <a:srgbClr val="5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35240" y="4416552"/>
            <a:ext cx="380390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80" b="1" i="0">
                <a:solidFill>
                  <a:srgbClr val="5CE1E6"/>
                </a:solidFill>
                <a:latin typeface="Arial"/>
              </a:defRPr>
            </a:pPr>
            <a:r>
              <a:t>Operational use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35240" y="4754880"/>
            <a:ext cx="3785615" cy="36576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10" b="0" i="0">
                <a:solidFill>
                  <a:srgbClr val="242126"/>
                </a:solidFill>
                <a:latin typeface="Arial"/>
              </a:defRPr>
            </a:pPr>
            <a:r>
              <a:t>Combine evacuation accessibility with susceptibility and exposure so response planning reflects both fire likelihood and people/assets at risk.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52360" y="5394960"/>
            <a:ext cx="4114800" cy="841248"/>
          </a:xfrm>
          <a:prstGeom prst="roundRect">
            <a:avLst/>
          </a:prstGeom>
          <a:solidFill>
            <a:srgbClr val="FFF7D1"/>
          </a:solidFill>
          <a:ln w="8890">
            <a:solidFill>
              <a:srgbClr val="F2E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26096" y="553212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1" i="0">
                <a:solidFill>
                  <a:srgbClr val="5E17EB"/>
                </a:solidFill>
                <a:latin typeface="Arial"/>
              </a:defRPr>
            </a:pPr>
            <a:r>
              <a:t>SOURCE LIMIT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41080" y="5504688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30" b="0" i="0">
                <a:solidFill>
                  <a:srgbClr val="242126"/>
                </a:solidFill>
                <a:latin typeface="Arial"/>
              </a:defRPr>
            </a:pPr>
            <a:r>
              <a:t>The source states three safe zones are mapped, but the summary text does not name them individually.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4048" y="201168"/>
            <a:ext cx="3749039" cy="31089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4632" y="210312"/>
            <a:ext cx="3547871" cy="29260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5E17EB"/>
                </a:solidFill>
                <a:latin typeface="Arial"/>
              </a:defRPr>
            </a:pPr>
            <a:r>
              <a:t>CLASS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12680" y="228600"/>
            <a:ext cx="1691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50" b="1" i="0">
                <a:solidFill>
                  <a:srgbClr val="68636A"/>
                </a:solidFill>
                <a:latin typeface="Arial"/>
              </a:defRPr>
            </a:pPr>
            <a:r>
              <a:t>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67512"/>
            <a:ext cx="112014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010101"/>
                </a:solidFill>
                <a:latin typeface="Arial"/>
              </a:defRPr>
            </a:pPr>
            <a:r>
              <a:t>Moderate and low classes occupy the largest reported shares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0996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0" b="0" i="0">
                <a:solidFill>
                  <a:srgbClr val="68636A"/>
                </a:solidFill>
                <a:latin typeface="Arial"/>
              </a:defRPr>
            </a:pPr>
            <a:r>
              <a:t>Shares and areas follow the five-class susceptibility results in the source deck.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658368" cy="50292"/>
          </a:xfrm>
          <a:prstGeom prst="rect">
            <a:avLst/>
          </a:prstGeom>
          <a:solidFill>
            <a:srgbClr val="5E1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01968"/>
            <a:ext cx="512064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80" b="1" i="0">
                <a:solidFill>
                  <a:srgbClr val="817A70"/>
                </a:solidFill>
                <a:latin typeface="Arial"/>
              </a:defRPr>
            </a:pPr>
            <a:r>
              <a:t>SGNP WILDFIRE RISK ANALYSIS  •  OCTOBER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83680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20" b="1" i="0">
                <a:solidFill>
                  <a:srgbClr val="5E17EB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938528"/>
            <a:ext cx="11064240" cy="18288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157984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5E17EB"/>
                </a:solidFill>
                <a:latin typeface="Arial"/>
              </a:defRPr>
            </a:pPr>
            <a:r>
              <a:t>SHARE OF STUDY AREA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2670048"/>
            <a:ext cx="990295" cy="502920"/>
          </a:xfrm>
          <a:prstGeom prst="rect">
            <a:avLst/>
          </a:prstGeom>
          <a:solidFill>
            <a:srgbClr val="FF5757"/>
          </a:solidFill>
          <a:ln w="11430">
            <a:solidFill>
              <a:srgbClr val="FFF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31543" y="2670048"/>
            <a:ext cx="2053559" cy="502920"/>
          </a:xfrm>
          <a:prstGeom prst="rect">
            <a:avLst/>
          </a:prstGeom>
          <a:solidFill>
            <a:srgbClr val="ED7843"/>
          </a:solidFill>
          <a:ln w="11430">
            <a:solidFill>
              <a:srgbClr val="FFF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49831" y="2761488"/>
            <a:ext cx="2016983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19.7%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85102" y="2670048"/>
            <a:ext cx="2929188" cy="502920"/>
          </a:xfrm>
          <a:prstGeom prst="rect">
            <a:avLst/>
          </a:prstGeom>
          <a:solidFill>
            <a:srgbClr val="FFDE59"/>
          </a:solidFill>
          <a:ln w="11430">
            <a:solidFill>
              <a:srgbClr val="FFF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03390" y="2761488"/>
            <a:ext cx="289261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010101"/>
                </a:solidFill>
                <a:latin typeface="Arial"/>
              </a:defRPr>
            </a:pPr>
            <a:r>
              <a:t>28.1%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14291" y="2670048"/>
            <a:ext cx="2553919" cy="502920"/>
          </a:xfrm>
          <a:prstGeom prst="rect">
            <a:avLst/>
          </a:prstGeom>
          <a:solidFill>
            <a:srgbClr val="00BF63"/>
          </a:solidFill>
          <a:ln w="11430">
            <a:solidFill>
              <a:srgbClr val="FFF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32579" y="2761488"/>
            <a:ext cx="2517343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24.5%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68210" y="2670048"/>
            <a:ext cx="1897197" cy="502920"/>
          </a:xfrm>
          <a:prstGeom prst="rect">
            <a:avLst/>
          </a:prstGeom>
          <a:solidFill>
            <a:srgbClr val="5CE1E6"/>
          </a:solidFill>
          <a:ln w="11430">
            <a:solidFill>
              <a:srgbClr val="FFF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86498" y="2761488"/>
            <a:ext cx="1860621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010101"/>
                </a:solidFill>
                <a:latin typeface="Arial"/>
              </a:defRPr>
            </a:pPr>
            <a:r>
              <a:t>18.2%</a:t>
            </a:r>
          </a:p>
        </p:txBody>
      </p:sp>
      <p:sp>
        <p:nvSpPr>
          <p:cNvPr id="21" name="Oval 20"/>
          <p:cNvSpPr/>
          <p:nvPr/>
        </p:nvSpPr>
        <p:spPr>
          <a:xfrm>
            <a:off x="713232" y="3383280"/>
            <a:ext cx="146304" cy="146304"/>
          </a:xfrm>
          <a:prstGeom prst="ellipse">
            <a:avLst/>
          </a:prstGeom>
          <a:solidFill>
            <a:srgbClr val="FF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3364992"/>
            <a:ext cx="1042415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0" b="1" i="0">
                <a:solidFill>
                  <a:srgbClr val="242126"/>
                </a:solidFill>
                <a:latin typeface="Arial"/>
              </a:defRPr>
            </a:pPr>
            <a:r>
              <a:t>Very 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" y="3566160"/>
            <a:ext cx="11430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90" b="0" i="0">
                <a:solidFill>
                  <a:srgbClr val="68636A"/>
                </a:solidFill>
                <a:latin typeface="Arial"/>
              </a:defRPr>
            </a:pPr>
            <a:r>
              <a:t>9.9 km²</a:t>
            </a:r>
          </a:p>
        </p:txBody>
      </p:sp>
      <p:sp>
        <p:nvSpPr>
          <p:cNvPr id="24" name="Oval 23"/>
          <p:cNvSpPr/>
          <p:nvPr/>
        </p:nvSpPr>
        <p:spPr>
          <a:xfrm>
            <a:off x="2926080" y="3383280"/>
            <a:ext cx="146304" cy="146304"/>
          </a:xfrm>
          <a:prstGeom prst="ellipse">
            <a:avLst/>
          </a:prstGeom>
          <a:solidFill>
            <a:srgbClr val="ED7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54680" y="3364992"/>
            <a:ext cx="1042415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0" b="1" i="0">
                <a:solidFill>
                  <a:srgbClr val="242126"/>
                </a:solidFill>
                <a:latin typeface="Arial"/>
              </a:defRPr>
            </a:pPr>
            <a:r>
              <a:t>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4680" y="3566160"/>
            <a:ext cx="11430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90" b="0" i="0">
                <a:solidFill>
                  <a:srgbClr val="68636A"/>
                </a:solidFill>
                <a:latin typeface="Arial"/>
              </a:defRPr>
            </a:pPr>
            <a:r>
              <a:t>20.5 km²</a:t>
            </a:r>
          </a:p>
        </p:txBody>
      </p:sp>
      <p:sp>
        <p:nvSpPr>
          <p:cNvPr id="27" name="Oval 26"/>
          <p:cNvSpPr/>
          <p:nvPr/>
        </p:nvSpPr>
        <p:spPr>
          <a:xfrm>
            <a:off x="5138928" y="3383280"/>
            <a:ext cx="146304" cy="146304"/>
          </a:xfrm>
          <a:prstGeom prst="ellipse">
            <a:avLst/>
          </a:prstGeom>
          <a:solidFill>
            <a:srgbClr val="FFD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67528" y="3364992"/>
            <a:ext cx="1042415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0" b="1" i="0">
                <a:solidFill>
                  <a:srgbClr val="242126"/>
                </a:solidFill>
                <a:latin typeface="Arial"/>
              </a:defRPr>
            </a:pPr>
            <a:r>
              <a:t>Moderate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67528" y="3566160"/>
            <a:ext cx="11430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90" b="0" i="0">
                <a:solidFill>
                  <a:srgbClr val="68636A"/>
                </a:solidFill>
                <a:latin typeface="Arial"/>
              </a:defRPr>
            </a:pPr>
            <a:r>
              <a:t>29.2 km²</a:t>
            </a:r>
          </a:p>
        </p:txBody>
      </p:sp>
      <p:sp>
        <p:nvSpPr>
          <p:cNvPr id="30" name="Oval 29"/>
          <p:cNvSpPr/>
          <p:nvPr/>
        </p:nvSpPr>
        <p:spPr>
          <a:xfrm>
            <a:off x="7351775" y="3383280"/>
            <a:ext cx="146304" cy="146304"/>
          </a:xfrm>
          <a:prstGeom prst="ellipse">
            <a:avLst/>
          </a:prstGeom>
          <a:solidFill>
            <a:srgbClr val="00B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0375" y="3364992"/>
            <a:ext cx="1042415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0" b="1" i="0">
                <a:solidFill>
                  <a:srgbClr val="242126"/>
                </a:solidFill>
                <a:latin typeface="Arial"/>
              </a:defRPr>
            </a:pPr>
            <a:r>
              <a:t>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0375" y="3566160"/>
            <a:ext cx="11430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90" b="0" i="0">
                <a:solidFill>
                  <a:srgbClr val="68636A"/>
                </a:solidFill>
                <a:latin typeface="Arial"/>
              </a:defRPr>
            </a:pPr>
            <a:r>
              <a:t>25.4 km²</a:t>
            </a:r>
          </a:p>
        </p:txBody>
      </p:sp>
      <p:sp>
        <p:nvSpPr>
          <p:cNvPr id="33" name="Oval 32"/>
          <p:cNvSpPr/>
          <p:nvPr/>
        </p:nvSpPr>
        <p:spPr>
          <a:xfrm>
            <a:off x="9564624" y="3383280"/>
            <a:ext cx="146304" cy="146304"/>
          </a:xfrm>
          <a:prstGeom prst="ellipse">
            <a:avLst/>
          </a:prstGeom>
          <a:solidFill>
            <a:srgbClr val="5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93224" y="3364992"/>
            <a:ext cx="1042415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0" b="1" i="0">
                <a:solidFill>
                  <a:srgbClr val="242126"/>
                </a:solidFill>
                <a:latin typeface="Arial"/>
              </a:defRPr>
            </a:pPr>
            <a:r>
              <a:t>Very Low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93224" y="3566160"/>
            <a:ext cx="11430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90" b="0" i="0">
                <a:solidFill>
                  <a:srgbClr val="68636A"/>
                </a:solidFill>
                <a:latin typeface="Arial"/>
              </a:defRPr>
            </a:pPr>
            <a:r>
              <a:t>18.9 km²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4096512"/>
            <a:ext cx="3502152" cy="160020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6928" y="4096512"/>
            <a:ext cx="64008" cy="1600200"/>
          </a:xfrm>
          <a:prstGeom prst="rect">
            <a:avLst/>
          </a:prstGeom>
          <a:solidFill>
            <a:srgbClr val="FF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" y="4215384"/>
            <a:ext cx="319125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20" b="1" i="0">
                <a:solidFill>
                  <a:srgbClr val="FF5757"/>
                </a:solidFill>
                <a:latin typeface="Arial"/>
              </a:defRPr>
            </a:pPr>
            <a:r>
              <a:t>Highest susceptibility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8" y="4553712"/>
            <a:ext cx="3172968" cy="105156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40" b="0" i="0">
                <a:solidFill>
                  <a:srgbClr val="242126"/>
                </a:solidFill>
                <a:latin typeface="Arial"/>
              </a:defRPr>
            </a:pPr>
            <a:r>
              <a:t>Very High + High classes are reported as 9.5% + 19.7% of the area. Their listed areas sum to 30.4 km².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43400" y="4096512"/>
            <a:ext cx="3502152" cy="160020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43400" y="4096512"/>
            <a:ext cx="64008" cy="1600200"/>
          </a:xfrm>
          <a:prstGeom prst="rect">
            <a:avLst/>
          </a:prstGeom>
          <a:solidFill>
            <a:srgbClr val="ED7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26280" y="4215384"/>
            <a:ext cx="319125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20" b="1" i="0">
                <a:solidFill>
                  <a:srgbClr val="ED7843"/>
                </a:solidFill>
                <a:latin typeface="Arial"/>
              </a:defRPr>
            </a:pPr>
            <a:r>
              <a:t>Largest single class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26280" y="4553712"/>
            <a:ext cx="3172968" cy="105156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40" b="0" i="0">
                <a:solidFill>
                  <a:srgbClr val="242126"/>
                </a:solidFill>
                <a:latin typeface="Arial"/>
              </a:defRPr>
            </a:pPr>
            <a:r>
              <a:t>Moderate susceptibility is the largest single class at 29.2 km² (28.1%), concentrated in forest–urban transition zones.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19872" y="4096512"/>
            <a:ext cx="3502152" cy="160020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119872" y="4096512"/>
            <a:ext cx="64008" cy="1600200"/>
          </a:xfrm>
          <a:prstGeom prst="rect">
            <a:avLst/>
          </a:prstGeom>
          <a:solidFill>
            <a:srgbClr val="00B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02752" y="4215384"/>
            <a:ext cx="319125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20" b="1" i="0">
                <a:solidFill>
                  <a:srgbClr val="00BF63"/>
                </a:solidFill>
                <a:latin typeface="Arial"/>
              </a:defRPr>
            </a:pPr>
            <a:r>
              <a:t>Core and water bodies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02752" y="4553712"/>
            <a:ext cx="3172968" cy="105156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40" b="0" i="0">
                <a:solidFill>
                  <a:srgbClr val="242126"/>
                </a:solidFill>
                <a:latin typeface="Arial"/>
              </a:defRPr>
            </a:pPr>
            <a:r>
              <a:t>Low and Very Low classes total 44.3 km² (42.7% by reported percentages), including core forest and water bodies.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6016752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10" b="0" i="1">
                <a:solidFill>
                  <a:srgbClr val="68636A"/>
                </a:solidFill>
                <a:latin typeface="Arial"/>
              </a:defRPr>
            </a:pPr>
            <a:r>
              <a:t>Percentages total 100.0%; areas total 103.9 km² because of rounding in the source figures.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4048" y="201168"/>
            <a:ext cx="3749039" cy="31089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4632" y="210312"/>
            <a:ext cx="3547871" cy="29260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5E17EB"/>
                </a:solidFill>
                <a:latin typeface="Arial"/>
              </a:defRPr>
            </a:pPr>
            <a:r>
              <a:t>RESULTS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12680" y="228600"/>
            <a:ext cx="1691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50" b="1" i="0">
                <a:solidFill>
                  <a:srgbClr val="68636A"/>
                </a:solidFill>
                <a:latin typeface="Arial"/>
              </a:defRPr>
            </a:pPr>
            <a:r>
              <a:t>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67512"/>
            <a:ext cx="112014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010101"/>
                </a:solidFill>
                <a:latin typeface="Arial"/>
              </a:defRPr>
            </a:pPr>
            <a:r>
              <a:t>The source deck’s headline numbers point to an operational response 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0996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0" b="0" i="0">
                <a:solidFill>
                  <a:srgbClr val="68636A"/>
                </a:solidFill>
                <a:latin typeface="Arial"/>
              </a:defRPr>
            </a:pPr>
            <a:r>
              <a:t>Figures below are reproduced as stated in the conclusion slide.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658368" cy="50292"/>
          </a:xfrm>
          <a:prstGeom prst="rect">
            <a:avLst/>
          </a:prstGeom>
          <a:solidFill>
            <a:srgbClr val="5E1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01968"/>
            <a:ext cx="512064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80" b="1" i="0">
                <a:solidFill>
                  <a:srgbClr val="817A70"/>
                </a:solidFill>
                <a:latin typeface="Arial"/>
              </a:defRPr>
            </a:pPr>
            <a:r>
              <a:t>SGNP WILDFIRE RISK ANALYSIS  •  OCTOBER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83680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20" b="1" i="0">
                <a:solidFill>
                  <a:srgbClr val="5E17EB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965960"/>
            <a:ext cx="2615184" cy="132588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965960"/>
            <a:ext cx="2615184" cy="50292"/>
          </a:xfrm>
          <a:prstGeom prst="rect">
            <a:avLst/>
          </a:prstGeom>
          <a:solidFill>
            <a:srgbClr val="5E1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2121408"/>
            <a:ext cx="2395728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5E17EB"/>
                </a:solidFill>
                <a:latin typeface="Arial"/>
              </a:defRPr>
            </a:pPr>
            <a:r>
              <a:t>29.2 km²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2560320"/>
            <a:ext cx="2395728" cy="6400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80" b="0" i="0">
                <a:solidFill>
                  <a:srgbClr val="242126"/>
                </a:solidFill>
                <a:latin typeface="Arial"/>
              </a:defRPr>
            </a:pPr>
            <a:r>
              <a:t>Reported as High / Very High susceptibility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55848" y="1965960"/>
            <a:ext cx="2615184" cy="132588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55848" y="1965960"/>
            <a:ext cx="2615184" cy="50292"/>
          </a:xfrm>
          <a:prstGeom prst="rect">
            <a:avLst/>
          </a:prstGeom>
          <a:solidFill>
            <a:srgbClr val="ED7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65576" y="2121408"/>
            <a:ext cx="2395728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ED7843"/>
                </a:solidFill>
                <a:latin typeface="Arial"/>
              </a:defRPr>
            </a:pPr>
            <a:r>
              <a:t>17.4 km²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65576" y="2560320"/>
            <a:ext cx="2395728" cy="6400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80" b="0" i="0">
                <a:solidFill>
                  <a:srgbClr val="242126"/>
                </a:solidFill>
                <a:latin typeface="Arial"/>
              </a:defRPr>
            </a:pPr>
            <a:r>
              <a:t>Human settlements exposed to high-risk fire zones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1965960"/>
            <a:ext cx="2615184" cy="132588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44768" y="1965960"/>
            <a:ext cx="2615184" cy="50292"/>
          </a:xfrm>
          <a:prstGeom prst="rect">
            <a:avLst/>
          </a:prstGeom>
          <a:solidFill>
            <a:srgbClr val="FF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54496" y="2121408"/>
            <a:ext cx="2395728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FF5757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4496" y="2560320"/>
            <a:ext cx="2395728" cy="6400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80" b="0" i="0">
                <a:solidFill>
                  <a:srgbClr val="242126"/>
                </a:solidFill>
                <a:latin typeface="Arial"/>
              </a:defRPr>
            </a:pPr>
            <a:r>
              <a:t>Hotspots at critical urban–forest interface gates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33688" y="1965960"/>
            <a:ext cx="2615184" cy="132588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33688" y="1965960"/>
            <a:ext cx="2615184" cy="50292"/>
          </a:xfrm>
          <a:prstGeom prst="rect">
            <a:avLst/>
          </a:prstGeom>
          <a:solidFill>
            <a:srgbClr val="00B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43415" y="2121408"/>
            <a:ext cx="2395728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00BF63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43415" y="2560320"/>
            <a:ext cx="2395728" cy="6400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80" b="0" i="0">
                <a:solidFill>
                  <a:srgbClr val="242126"/>
                </a:solidFill>
                <a:latin typeface="Arial"/>
              </a:defRPr>
            </a:pPr>
            <a:r>
              <a:t>Safe zones mapped for emergency assembly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675887"/>
            <a:ext cx="10981944" cy="2103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" y="3913632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5E17EB"/>
                </a:solidFill>
                <a:latin typeface="Arial"/>
              </a:defRPr>
            </a:pPr>
            <a:r>
              <a:t>DISCUSSION</a:t>
            </a:r>
          </a:p>
        </p:txBody>
      </p:sp>
      <p:sp>
        <p:nvSpPr>
          <p:cNvPr id="28" name="Oval 27"/>
          <p:cNvSpPr/>
          <p:nvPr/>
        </p:nvSpPr>
        <p:spPr>
          <a:xfrm>
            <a:off x="868680" y="4370831"/>
            <a:ext cx="109728" cy="109728"/>
          </a:xfrm>
          <a:prstGeom prst="ellipse">
            <a:avLst/>
          </a:prstGeom>
          <a:solidFill>
            <a:srgbClr val="ED7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8992" y="4279392"/>
            <a:ext cx="9848088" cy="33832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242126"/>
                </a:solidFill>
                <a:latin typeface="Arial"/>
              </a:defRPr>
            </a:pPr>
            <a:r>
              <a:t>The urban–forest interface is the central exposure zone: the map identifies dense residential clusters along the western boundary.</a:t>
            </a:r>
          </a:p>
        </p:txBody>
      </p:sp>
      <p:sp>
        <p:nvSpPr>
          <p:cNvPr id="30" name="Oval 29"/>
          <p:cNvSpPr/>
          <p:nvPr/>
        </p:nvSpPr>
        <p:spPr>
          <a:xfrm>
            <a:off x="868680" y="4837176"/>
            <a:ext cx="109728" cy="109728"/>
          </a:xfrm>
          <a:prstGeom prst="ellipse">
            <a:avLst/>
          </a:prstGeom>
          <a:solidFill>
            <a:srgbClr val="FF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8992" y="4745736"/>
            <a:ext cx="9848088" cy="33832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242126"/>
                </a:solidFill>
                <a:latin typeface="Arial"/>
              </a:defRPr>
            </a:pPr>
            <a:r>
              <a:t>Steep slopes and fuel/vegetation conditions are emphasized in the eastern Yeoor Ridge hotspot callout.</a:t>
            </a:r>
          </a:p>
        </p:txBody>
      </p:sp>
      <p:sp>
        <p:nvSpPr>
          <p:cNvPr id="32" name="Oval 31"/>
          <p:cNvSpPr/>
          <p:nvPr/>
        </p:nvSpPr>
        <p:spPr>
          <a:xfrm>
            <a:off x="868680" y="5303520"/>
            <a:ext cx="109728" cy="109728"/>
          </a:xfrm>
          <a:prstGeom prst="ellipse">
            <a:avLst/>
          </a:prstGeom>
          <a:solidFill>
            <a:srgbClr val="00B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78992" y="5212080"/>
            <a:ext cx="9848088" cy="33832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242126"/>
                </a:solidFill>
                <a:latin typeface="Arial"/>
              </a:defRPr>
            </a:pPr>
            <a:r>
              <a:t>The Tulsi catchment is called out as a low-susceptibility moisture sanctuary in the source map.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6016752"/>
            <a:ext cx="10698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 i="1">
                <a:solidFill>
                  <a:srgbClr val="68636A"/>
                </a:solidFill>
                <a:latin typeface="Arial"/>
              </a:defRPr>
            </a:pPr>
            <a:r>
              <a:t>Note: the reported 29.2 km² headline does not match the sum of the two listed High and Very High class areas. See source-validation notes.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4048" y="201168"/>
            <a:ext cx="3749039" cy="31089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4632" y="210312"/>
            <a:ext cx="3547871" cy="29260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5E17EB"/>
                </a:solidFill>
                <a:latin typeface="Arial"/>
              </a:defRPr>
            </a:pPr>
            <a:r>
              <a:t>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12680" y="228600"/>
            <a:ext cx="1691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50" b="1" i="0">
                <a:solidFill>
                  <a:srgbClr val="68636A"/>
                </a:solidFill>
                <a:latin typeface="Arial"/>
              </a:defRPr>
            </a:pPr>
            <a:r>
              <a:t>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67512"/>
            <a:ext cx="112014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010101"/>
                </a:solidFill>
                <a:latin typeface="Arial"/>
              </a:defRPr>
            </a:pPr>
            <a:r>
              <a:t>Five recommended actions target fuels, access and early response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0996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0" b="0" i="0">
                <a:solidFill>
                  <a:srgbClr val="68636A"/>
                </a:solidFill>
                <a:latin typeface="Arial"/>
              </a:defRPr>
            </a:pPr>
            <a:r>
              <a:t>Recommendations reproduced from the source conclusion slide.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658368" cy="50292"/>
          </a:xfrm>
          <a:prstGeom prst="rect">
            <a:avLst/>
          </a:prstGeom>
          <a:solidFill>
            <a:srgbClr val="5E1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01968"/>
            <a:ext cx="512064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80" b="1" i="0">
                <a:solidFill>
                  <a:srgbClr val="817A70"/>
                </a:solidFill>
                <a:latin typeface="Arial"/>
              </a:defRPr>
            </a:pPr>
            <a:r>
              <a:t>SGNP WILDFIRE RISK ANALYSIS  •  OCTOBER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83680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20" b="1" i="0">
                <a:solidFill>
                  <a:srgbClr val="5E17EB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965960"/>
            <a:ext cx="3493008" cy="15727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2148840"/>
            <a:ext cx="429768" cy="429768"/>
          </a:xfrm>
          <a:prstGeom prst="ellipse">
            <a:avLst/>
          </a:prstGeom>
          <a:solidFill>
            <a:srgbClr val="5E1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2185415"/>
            <a:ext cx="411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2148840"/>
            <a:ext cx="2578608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5E17EB"/>
                </a:solidFill>
                <a:latin typeface="Arial"/>
              </a:defRPr>
            </a:pPr>
            <a:r>
              <a:t>Buffer zones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752344"/>
            <a:ext cx="3090672" cy="56692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19" b="0" i="0">
                <a:solidFill>
                  <a:srgbClr val="242126"/>
                </a:solidFill>
                <a:latin typeface="Arial"/>
              </a:defRPr>
            </a:pPr>
            <a:r>
              <a:t>Create physical firebreaks along the highest-risk urban–forest interfaces before the dry season.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965960"/>
            <a:ext cx="3493008" cy="15727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80560" y="2148840"/>
            <a:ext cx="429768" cy="429768"/>
          </a:xfrm>
          <a:prstGeom prst="ellipse">
            <a:avLst/>
          </a:prstGeom>
          <a:solidFill>
            <a:srgbClr val="ED7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9704" y="2185415"/>
            <a:ext cx="411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47488" y="2148840"/>
            <a:ext cx="2578608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ED7843"/>
                </a:solidFill>
                <a:latin typeface="Arial"/>
              </a:defRPr>
            </a:pPr>
            <a:r>
              <a:t>Fuel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848" y="2752344"/>
            <a:ext cx="3090672" cy="56692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19" b="0" i="0">
                <a:solidFill>
                  <a:srgbClr val="242126"/>
                </a:solidFill>
                <a:latin typeface="Arial"/>
              </a:defRPr>
            </a:pPr>
            <a:r>
              <a:t>Use controlled removal of dry brush in Very High susceptibility zones.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28431" y="1965960"/>
            <a:ext cx="3493008" cy="15727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11311" y="2148840"/>
            <a:ext cx="429768" cy="429768"/>
          </a:xfrm>
          <a:prstGeom prst="ellipse">
            <a:avLst/>
          </a:prstGeom>
          <a:solidFill>
            <a:srgbClr val="FF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185415"/>
            <a:ext cx="411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2148840"/>
            <a:ext cx="2578608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FF5757"/>
                </a:solidFill>
                <a:latin typeface="Arial"/>
              </a:defRPr>
            </a:pPr>
            <a:r>
              <a:t>Access 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752344"/>
            <a:ext cx="3090672" cy="56692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19" b="0" i="0">
                <a:solidFill>
                  <a:srgbClr val="242126"/>
                </a:solidFill>
                <a:latin typeface="Arial"/>
              </a:defRPr>
            </a:pPr>
            <a:r>
              <a:t>Restrict human access to high-risk zones during the November–May dry months.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32304" y="3886200"/>
            <a:ext cx="3493008" cy="15727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615184" y="4069080"/>
            <a:ext cx="429768" cy="429768"/>
          </a:xfrm>
          <a:prstGeom prst="ellipse">
            <a:avLst/>
          </a:prstGeom>
          <a:solidFill>
            <a:srgbClr val="00B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24328" y="4105656"/>
            <a:ext cx="411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82112" y="4069080"/>
            <a:ext cx="2578608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0BF63"/>
                </a:solidFill>
                <a:latin typeface="Arial"/>
              </a:defRPr>
            </a:pPr>
            <a:r>
              <a:t>Surveillance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33472" y="4672584"/>
            <a:ext cx="3090672" cy="56692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19" b="0" i="0">
                <a:solidFill>
                  <a:srgbClr val="242126"/>
                </a:solidFill>
                <a:latin typeface="Arial"/>
              </a:defRPr>
            </a:pPr>
            <a:r>
              <a:t>Deploy thermal cameras and drone monitoring at peripheral hotspots.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63056" y="3886200"/>
            <a:ext cx="3493008" cy="15727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45936" y="4069080"/>
            <a:ext cx="429768" cy="429768"/>
          </a:xfrm>
          <a:prstGeom prst="ellipse">
            <a:avLst/>
          </a:prstGeom>
          <a:solidFill>
            <a:srgbClr val="5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4105656"/>
            <a:ext cx="411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010101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12864" y="4069080"/>
            <a:ext cx="2578608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5E17EB"/>
                </a:solidFill>
                <a:latin typeface="Arial"/>
              </a:defRPr>
            </a:pPr>
            <a:r>
              <a:t>Pre-positioning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64224" y="4672584"/>
            <a:ext cx="3090672" cy="56692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19" b="0" i="0">
                <a:solidFill>
                  <a:srgbClr val="242126"/>
                </a:solidFill>
                <a:latin typeface="Arial"/>
              </a:defRPr>
            </a:pPr>
            <a:r>
              <a:t>Pre-position fire-brigade assets based on evacuation-priority maps.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779008"/>
            <a:ext cx="10744200" cy="402336"/>
          </a:xfrm>
          <a:prstGeom prst="roundRect">
            <a:avLst/>
          </a:prstGeom>
          <a:solidFill>
            <a:srgbClr val="F0E9FF"/>
          </a:solidFill>
          <a:ln w="7620">
            <a:solidFill>
              <a:srgbClr val="DDD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861304"/>
            <a:ext cx="10332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69" b="1" i="0">
                <a:solidFill>
                  <a:srgbClr val="5E17EB"/>
                </a:solidFill>
                <a:latin typeface="Arial"/>
              </a:defRPr>
            </a:pPr>
            <a:r>
              <a:t>Timing emphasis in the source: strengthen preparedness before the dry season; apply targeted access controls during November–May.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4048" y="201168"/>
            <a:ext cx="3749039" cy="31089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4632" y="210312"/>
            <a:ext cx="3547871" cy="29260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5E17EB"/>
                </a:solidFill>
                <a:latin typeface="Arial"/>
              </a:defRPr>
            </a:pPr>
            <a:r>
              <a:t>RESPONSE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12680" y="228600"/>
            <a:ext cx="1691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50" b="1" i="0">
                <a:solidFill>
                  <a:srgbClr val="68636A"/>
                </a:solidFill>
                <a:latin typeface="Arial"/>
              </a:defRPr>
            </a:pPr>
            <a:r>
              <a:t>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67512"/>
            <a:ext cx="112014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010101"/>
                </a:solidFill>
                <a:latin typeface="Arial"/>
              </a:defRPr>
            </a:pPr>
            <a:r>
              <a:t>Sequence mitigation, monitoring and evacuation readiness around the dry season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0996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0" b="0" i="0">
                <a:solidFill>
                  <a:srgbClr val="68636A"/>
                </a:solidFill>
                <a:latin typeface="Arial"/>
              </a:defRPr>
            </a:pPr>
            <a:r>
              <a:t>A presentation-friendly organization of actions and analytical outputs named in the source deck.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658368" cy="50292"/>
          </a:xfrm>
          <a:prstGeom prst="rect">
            <a:avLst/>
          </a:prstGeom>
          <a:solidFill>
            <a:srgbClr val="5E1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01968"/>
            <a:ext cx="512064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80" b="1" i="0">
                <a:solidFill>
                  <a:srgbClr val="817A70"/>
                </a:solidFill>
                <a:latin typeface="Arial"/>
              </a:defRPr>
            </a:pPr>
            <a:r>
              <a:t>SGNP WILDFIRE RISK ANALYSIS  •  OCTOBER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83680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20" b="1" i="0">
                <a:solidFill>
                  <a:srgbClr val="5E17EB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75104"/>
            <a:ext cx="10835640" cy="78638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975104"/>
            <a:ext cx="109728" cy="786384"/>
          </a:xfrm>
          <a:prstGeom prst="rect">
            <a:avLst/>
          </a:prstGeom>
          <a:solidFill>
            <a:srgbClr val="ED7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139696"/>
            <a:ext cx="5303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ED7843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2093976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ED7843"/>
                </a:solidFill>
                <a:latin typeface="Arial"/>
              </a:defRPr>
            </a:pPr>
            <a:r>
              <a:t>BEFORE DRY SEASON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58768" y="2103120"/>
            <a:ext cx="7333488" cy="51206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40" b="0" i="0">
                <a:solidFill>
                  <a:srgbClr val="242126"/>
                </a:solidFill>
                <a:latin typeface="Arial"/>
              </a:defRPr>
            </a:pPr>
            <a:r>
              <a:t>Establish physical firebreaks at highest-risk interfaces; carry out controlled dry-brush removal in Very High zones.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962656"/>
            <a:ext cx="10835640" cy="78638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2962656"/>
            <a:ext cx="109728" cy="786384"/>
          </a:xfrm>
          <a:prstGeom prst="rect">
            <a:avLst/>
          </a:prstGeom>
          <a:solidFill>
            <a:srgbClr val="FF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127248"/>
            <a:ext cx="5303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FF5757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64208" y="3081528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FF5757"/>
                </a:solidFill>
                <a:latin typeface="Arial"/>
              </a:defRPr>
            </a:pPr>
            <a:r>
              <a:t>NOVEMBER–MAY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58768" y="3090672"/>
            <a:ext cx="7333488" cy="51206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40" b="0" i="0">
                <a:solidFill>
                  <a:srgbClr val="242126"/>
                </a:solidFill>
                <a:latin typeface="Arial"/>
              </a:defRPr>
            </a:pPr>
            <a:r>
              <a:t>Restrict access to high-risk areas; focus thermal-camera / drone monitoring on peripheral hotspots.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950208"/>
            <a:ext cx="10835640" cy="78638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3950208"/>
            <a:ext cx="109728" cy="786384"/>
          </a:xfrm>
          <a:prstGeom prst="rect">
            <a:avLst/>
          </a:prstGeom>
          <a:solidFill>
            <a:srgbClr val="00B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114800"/>
            <a:ext cx="5303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00BF63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4208" y="406908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00BF63"/>
                </a:solidFill>
                <a:latin typeface="Arial"/>
              </a:defRPr>
            </a:pPr>
            <a:r>
              <a:t>RESPONSE READINESS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58768" y="4078224"/>
            <a:ext cx="7333488" cy="51206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40" b="0" i="0">
                <a:solidFill>
                  <a:srgbClr val="242126"/>
                </a:solidFill>
                <a:latin typeface="Arial"/>
              </a:defRPr>
            </a:pPr>
            <a:r>
              <a:t>Pre-position fire-brigade assets using susceptibility, exposure and evacuation-priority maps.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937760"/>
            <a:ext cx="10835640" cy="78638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4937760"/>
            <a:ext cx="109728" cy="786384"/>
          </a:xfrm>
          <a:prstGeom prst="rect">
            <a:avLst/>
          </a:prstGeom>
          <a:solidFill>
            <a:srgbClr val="5E1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102352"/>
            <a:ext cx="5303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5E17EB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64208" y="5056632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5E17EB"/>
                </a:solidFill>
                <a:latin typeface="Arial"/>
              </a:defRPr>
            </a:pPr>
            <a:r>
              <a:t>EVACUATION PLANNING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58768" y="5065776"/>
            <a:ext cx="7333488" cy="51206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40" b="0" i="0">
                <a:solidFill>
                  <a:srgbClr val="242126"/>
                </a:solidFill>
                <a:latin typeface="Arial"/>
              </a:defRPr>
            </a:pPr>
            <a:r>
              <a:t>Use road-network accessibility and mapped safe zones for emergency assembly planning.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144768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60" b="0" i="1">
                <a:solidFill>
                  <a:srgbClr val="68636A"/>
                </a:solidFill>
                <a:latin typeface="Arial"/>
              </a:defRPr>
            </a:pPr>
            <a:r>
              <a:t>No new locations or timing thresholds have been added beyond the supplied presentation; this sequence only organizes its listed actions.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4048" y="201168"/>
            <a:ext cx="3749039" cy="31089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4632" y="210312"/>
            <a:ext cx="3547871" cy="29260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5E17EB"/>
                </a:solidFill>
                <a:latin typeface="Arial"/>
              </a:defRPr>
            </a:pPr>
            <a:r>
              <a:t>APPENDIX · INTERNAL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12680" y="228600"/>
            <a:ext cx="1691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50" b="1" i="0">
                <a:solidFill>
                  <a:srgbClr val="68636A"/>
                </a:solidFill>
                <a:latin typeface="Arial"/>
              </a:defRPr>
            </a:pPr>
            <a:r>
              <a:t>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67512"/>
            <a:ext cx="112014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010101"/>
                </a:solidFill>
                <a:latin typeface="Arial"/>
              </a:defRPr>
            </a:pPr>
            <a:r>
              <a:t>Resolve these source-figure differences before external submission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0996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0" b="0" i="0">
                <a:solidFill>
                  <a:srgbClr val="68636A"/>
                </a:solidFill>
                <a:latin typeface="Arial"/>
              </a:defRPr>
            </a:pPr>
            <a:r>
              <a:t>All values below appear in the uploaded SGNP deck; differences are preserved, not silently reconciled.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658368" cy="50292"/>
          </a:xfrm>
          <a:prstGeom prst="rect">
            <a:avLst/>
          </a:prstGeom>
          <a:solidFill>
            <a:srgbClr val="5E1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01968"/>
            <a:ext cx="512064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80" b="1" i="0">
                <a:solidFill>
                  <a:srgbClr val="817A70"/>
                </a:solidFill>
                <a:latin typeface="Arial"/>
              </a:defRPr>
            </a:pPr>
            <a:r>
              <a:t>SGNP WILDFIRE RISK ANALYSIS  •  OCTOBER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83680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20" b="1" i="0">
                <a:solidFill>
                  <a:srgbClr val="5E17EB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828800"/>
            <a:ext cx="11018520" cy="58521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938528"/>
            <a:ext cx="148132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10" b="1" i="0">
                <a:solidFill>
                  <a:srgbClr val="5E17EB"/>
                </a:solidFill>
                <a:latin typeface="Arial"/>
              </a:defRPr>
            </a:pPr>
            <a:r>
              <a:t>STUDY AREA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1901952"/>
            <a:ext cx="4206240" cy="41148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19" b="0" i="0">
                <a:solidFill>
                  <a:srgbClr val="242126"/>
                </a:solidFill>
                <a:latin typeface="Arial"/>
              </a:defRPr>
            </a:pPr>
            <a:r>
              <a:t>104 km² in the narrative vs 103.84 km² on the map plate.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1901952"/>
            <a:ext cx="4754880" cy="41148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19" b="0" i="1">
                <a:solidFill>
                  <a:srgbClr val="68636A"/>
                </a:solidFill>
                <a:latin typeface="Arial"/>
              </a:defRPr>
            </a:pPr>
            <a:r>
              <a:t>Likely rounding; adopt one preferred display value.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523744"/>
            <a:ext cx="11018520" cy="58521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633472"/>
            <a:ext cx="148132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10" b="1" i="0">
                <a:solidFill>
                  <a:srgbClr val="ED7843"/>
                </a:solidFill>
                <a:latin typeface="Arial"/>
              </a:defRPr>
            </a:pPr>
            <a:r>
              <a:t>ELEVATION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596896"/>
            <a:ext cx="4206240" cy="41148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19" b="0" i="0">
                <a:solidFill>
                  <a:srgbClr val="242126"/>
                </a:solidFill>
                <a:latin typeface="Arial"/>
              </a:defRPr>
            </a:pPr>
            <a:r>
              <a:t>12–480 m ASL in the profile vs 15–468 m AMSL on the map plate.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2596896"/>
            <a:ext cx="4754880" cy="41148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19" b="0" i="1">
                <a:solidFill>
                  <a:srgbClr val="68636A"/>
                </a:solidFill>
                <a:latin typeface="Arial"/>
              </a:defRPr>
            </a:pPr>
            <a:r>
              <a:t>Confirm the intended source/range and vertical reference.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218688"/>
            <a:ext cx="11018520" cy="58521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3328416"/>
            <a:ext cx="148132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10" b="1" i="0">
                <a:solidFill>
                  <a:srgbClr val="00BF63"/>
                </a:solidFill>
                <a:latin typeface="Arial"/>
              </a:defRPr>
            </a:pPr>
            <a:r>
              <a:t>POPULATION CONTEXT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291840"/>
            <a:ext cx="4206240" cy="41148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19" b="0" i="0">
                <a:solidFill>
                  <a:srgbClr val="242126"/>
                </a:solidFill>
                <a:latin typeface="Arial"/>
              </a:defRPr>
            </a:pPr>
            <a:r>
              <a:t>20+ million residents in the problem statement vs &gt;15 million on the map plate; &gt;450,000 “fringe” population in the risk metrics.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1968" y="3291840"/>
            <a:ext cx="4754880" cy="41148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19" b="0" i="1">
                <a:solidFill>
                  <a:srgbClr val="68636A"/>
                </a:solidFill>
                <a:latin typeface="Arial"/>
              </a:defRPr>
            </a:pPr>
            <a:r>
              <a:t>Clarify geographic scope and definitions for each population figure.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913632"/>
            <a:ext cx="11018520" cy="58521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4023360"/>
            <a:ext cx="148132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10" b="1" i="0">
                <a:solidFill>
                  <a:srgbClr val="FF5757"/>
                </a:solidFill>
                <a:latin typeface="Arial"/>
              </a:defRPr>
            </a:pPr>
            <a:r>
              <a:t>AHP WEIGHTS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986784"/>
            <a:ext cx="4206240" cy="41148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19" b="0" i="0">
                <a:solidFill>
                  <a:srgbClr val="242126"/>
                </a:solidFill>
                <a:latin typeface="Arial"/>
              </a:defRPr>
            </a:pPr>
            <a:r>
              <a:t>Workflow/chart: 40/25/15/10/10 across five factors. Map plate: 35/30/25/10 across four criteria.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1968" y="3986784"/>
            <a:ext cx="4754880" cy="41148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19" b="0" i="1">
                <a:solidFill>
                  <a:srgbClr val="68636A"/>
                </a:solidFill>
                <a:latin typeface="Arial"/>
              </a:defRPr>
            </a:pPr>
            <a:r>
              <a:t>Confirm which weighting specification produced the susceptibility map.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608576"/>
            <a:ext cx="11018520" cy="58521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4718304"/>
            <a:ext cx="148132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10" b="1" i="0">
                <a:solidFill>
                  <a:srgbClr val="5CE1E6"/>
                </a:solidFill>
                <a:latin typeface="Arial"/>
              </a:defRPr>
            </a:pPr>
            <a:r>
              <a:t>HIGH / VERY HIGH AREA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681728"/>
            <a:ext cx="4206240" cy="41148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19" b="0" i="0">
                <a:solidFill>
                  <a:srgbClr val="242126"/>
                </a:solidFill>
                <a:latin typeface="Arial"/>
              </a:defRPr>
            </a:pPr>
            <a:r>
              <a:t>Conclusion states 29.2 km², while class table reports 9.9 + 20.5 = 30.4 km².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01968" y="4681728"/>
            <a:ext cx="4754880" cy="41148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19" b="0" i="1">
                <a:solidFill>
                  <a:srgbClr val="68636A"/>
                </a:solidFill>
                <a:latin typeface="Arial"/>
              </a:defRPr>
            </a:pPr>
            <a:r>
              <a:t>Verify the intended aggregate; 29.2 km² is also the Moderate-class area.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303520"/>
            <a:ext cx="11018520" cy="58521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5413248"/>
            <a:ext cx="148132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10" b="1" i="0">
                <a:solidFill>
                  <a:srgbClr val="FF66C4"/>
                </a:solidFill>
                <a:latin typeface="Arial"/>
              </a:defRPr>
            </a:pPr>
            <a:r>
              <a:t>HOTSPOT COUNT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5376672"/>
            <a:ext cx="4206240" cy="41148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19" b="0" i="0">
                <a:solidFill>
                  <a:srgbClr val="242126"/>
                </a:solidFill>
                <a:latin typeface="Arial"/>
              </a:defRPr>
            </a:pPr>
            <a:r>
              <a:t>Conclusion reports five hotspots; the shown map labels two high-risk hotspots and one low-risk area.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01968" y="5376672"/>
            <a:ext cx="4754880" cy="41148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19" b="0" i="1">
                <a:solidFill>
                  <a:srgbClr val="68636A"/>
                </a:solidFill>
                <a:latin typeface="Arial"/>
              </a:defRPr>
            </a:pPr>
            <a:r>
              <a:t>Add the other hotspot locations or qualify the map’s selected callouts.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" y="614476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10" b="1" i="1">
                <a:solidFill>
                  <a:srgbClr val="5E17EB"/>
                </a:solidFill>
                <a:latin typeface="Arial"/>
              </a:defRPr>
            </a:pPr>
            <a:r>
              <a:t>This slide is an internal quality-control aid and can be removed from the audience-facing version after figures are confirmed.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SGNP Wildfire Susceptibility Mapping &amp; Disaster Risk Analysis</dc:title>
  <dc:subject>Light-theme executive presentation based on the supplied SGNP wildfire presentation and McKinsey-themed template</dc:subject>
  <dc:creator>FireWatch Analysts</dc:creator>
  <cp:keywords>SGNP, wildfire, GIS, AHP, susceptibility mapping, disaster risk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